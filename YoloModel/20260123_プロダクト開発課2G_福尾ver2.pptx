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75" r:id="rId4"/>
    <p:sldId id="276" r:id="rId5"/>
    <p:sldId id="277" r:id="rId6"/>
    <p:sldId id="272" r:id="rId7"/>
    <p:sldId id="278" r:id="rId8"/>
    <p:sldId id="274" r:id="rId9"/>
    <p:sldId id="273" r:id="rId10"/>
    <p:sldId id="266" r:id="rId11"/>
    <p:sldId id="270" r:id="rId12"/>
    <p:sldId id="262" r:id="rId13"/>
    <p:sldId id="267" r:id="rId14"/>
    <p:sldId id="271" r:id="rId15"/>
    <p:sldId id="279" r:id="rId16"/>
    <p:sldId id="280"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8F9B1B-435B-42B0-A02E-5FF792CC496E}" type="datetimeFigureOut">
              <a:rPr kumimoji="1" lang="ja-JP" altLang="en-US" smtClean="0"/>
              <a:t>2026/1/23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668AE-D8AF-4CA3-8311-D5BF20BE7F29}" type="slidenum">
              <a:rPr kumimoji="1" lang="ja-JP" altLang="en-US" smtClean="0"/>
              <a:t>‹#›</a:t>
            </a:fld>
            <a:endParaRPr kumimoji="1" lang="ja-JP" altLang="en-US"/>
          </a:p>
        </p:txBody>
      </p:sp>
    </p:spTree>
    <p:extLst>
      <p:ext uri="{BB962C8B-B14F-4D97-AF65-F5344CB8AC3E}">
        <p14:creationId xmlns:p14="http://schemas.microsoft.com/office/powerpoint/2010/main" val="9073058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925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6100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07790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8611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856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058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685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6127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6320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8171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6611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3607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EB0C29-5E48-FB3F-8941-41853BAB50F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DB4CEFA-BECE-C2C8-88C1-4F5433C735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B9AF509-B4D3-75D8-0D7F-35BEAB4B5424}"/>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66A5C229-B17F-BEC2-C81D-1F31A6B0EAE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26F65C7-32CF-CE9C-742A-176FE4C7139B}"/>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2041901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F1EF96-7125-05BC-1BF1-9242AB84F0A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A616923-7460-6D49-8881-7C197D7FDCE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0F298D8-530B-1386-85F8-DE3182892C77}"/>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886CD52F-DBA8-9041-3AA2-7DA5AAF10DA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8EF89C-E71A-2633-6CB6-434DCB2C63EB}"/>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4236109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AA06C-0C88-EC26-7C18-E973964C55D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884FEBE-F0B3-3FAF-5051-7CC12B313D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E62D41F-9133-F01B-9206-19EF9FF93049}"/>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86D5A597-BACD-4999-B26C-BE830592E10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082AB6-18A2-0003-1AD6-C2D8F5C8F33A}"/>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1111411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80A22C-63A5-09A2-0474-FD50CEFCC7B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FF0A9B7-064A-F5A8-3FA5-0EBEF5ECC50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CF21B5D-BF44-97CE-FC20-6DDB871C0B9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43B126F-EBE3-E7E8-9E8C-084D3A9C9BD5}"/>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6" name="フッター プレースホルダー 5">
            <a:extLst>
              <a:ext uri="{FF2B5EF4-FFF2-40B4-BE49-F238E27FC236}">
                <a16:creationId xmlns:a16="http://schemas.microsoft.com/office/drawing/2014/main" id="{0039202C-61FF-8606-9E35-3B7759792E9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3678164-25CA-4B2B-47E4-0D8856FEB796}"/>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404059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627639-C3FD-7CC0-0064-F4F35934CAA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9D1C605-C444-DD0B-6EAD-A7B1ED6DF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5DED1D3-A5F5-588D-4B98-FA767235A89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479CECE-71C6-8C63-A56E-194DE719A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FDFED8E-D1A8-1632-C100-FC77D472180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7A93496-865D-07FC-45D9-F2A521B0D02A}"/>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8" name="フッター プレースホルダー 7">
            <a:extLst>
              <a:ext uri="{FF2B5EF4-FFF2-40B4-BE49-F238E27FC236}">
                <a16:creationId xmlns:a16="http://schemas.microsoft.com/office/drawing/2014/main" id="{A8B0E8F0-92F5-E80F-4A7D-29691724C7B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292AE5F-C6C9-922D-6B5D-75F3D0497278}"/>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4180837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DE02B1-FB78-225B-D99A-5B1CB13F3D6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29304EF-E9A5-9DBF-FE6F-2DE6E7B3A9A8}"/>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4" name="フッター プレースホルダー 3">
            <a:extLst>
              <a:ext uri="{FF2B5EF4-FFF2-40B4-BE49-F238E27FC236}">
                <a16:creationId xmlns:a16="http://schemas.microsoft.com/office/drawing/2014/main" id="{84906AD0-6EC2-9780-3EE7-EA865697B5F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AF5174E-1922-312F-37F7-BC2D6196C16A}"/>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706973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0B2DDDE-CAA2-47E9-417E-C3AEC86A4D46}"/>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3" name="フッター プレースホルダー 2">
            <a:extLst>
              <a:ext uri="{FF2B5EF4-FFF2-40B4-BE49-F238E27FC236}">
                <a16:creationId xmlns:a16="http://schemas.microsoft.com/office/drawing/2014/main" id="{FC78C1F7-B2C9-9765-D0E3-996C23A8DA5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C428758-3199-80DE-3EA5-617B3CEE36CB}"/>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534085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DC76D7-83B8-B8C7-80B1-195A3ADCEB6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BAB7F6C-5824-DB1A-7422-37B3903F4B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311D4C5-35E1-2651-0CFC-B1DBDDEE8F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8EF3667-D02B-3BD5-617A-74D29D7F63DC}"/>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6" name="フッター プレースホルダー 5">
            <a:extLst>
              <a:ext uri="{FF2B5EF4-FFF2-40B4-BE49-F238E27FC236}">
                <a16:creationId xmlns:a16="http://schemas.microsoft.com/office/drawing/2014/main" id="{97512994-D265-FF11-B88F-791FAACBDE6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2E0CB20-5EA4-7736-DD43-AC3661B85243}"/>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2943898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0A1695-66A2-0EAE-D2C1-F183B738A75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B6F36B1-BD06-168C-9599-EC3D25EA94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65E93F3-D71C-5EB0-81E3-74B65DE0D0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A9B31A2-09FB-6E72-807F-6B90D12FB447}"/>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6" name="フッター プレースホルダー 5">
            <a:extLst>
              <a:ext uri="{FF2B5EF4-FFF2-40B4-BE49-F238E27FC236}">
                <a16:creationId xmlns:a16="http://schemas.microsoft.com/office/drawing/2014/main" id="{746E9E10-5405-8DDF-14AF-8A97C11E375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BD4F959-DB3F-5F88-5295-F330424B1343}"/>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2506298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B49CB3-E09D-AE0D-C1BE-C30ECD3A2FD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D171C76-D2AB-D551-70A6-B8508C0E95A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78DF61A-6EDE-7F47-B4AE-2F69E51A855D}"/>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AA2F6F4D-3DD6-4431-92A0-3D04460F251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F914D53-C630-0D54-BC59-58F6A94DC702}"/>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3001937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EB29F56-C8E2-68FF-126B-01CDE1B4AE1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1532D55-7C1C-36F3-1590-8AEB58F69E5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F6B2334-7D05-D60A-EA90-F95E67B608CA}"/>
              </a:ext>
            </a:extLst>
          </p:cNvPr>
          <p:cNvSpPr>
            <a:spLocks noGrp="1"/>
          </p:cNvSpPr>
          <p:nvPr>
            <p:ph type="dt" sz="half" idx="10"/>
          </p:nvPr>
        </p:nvSpPr>
        <p:spPr/>
        <p:txBody>
          <a:bodyPr/>
          <a:lstStyle/>
          <a:p>
            <a:fld id="{2B02118E-24A7-44D9-81AA-B723A97BAE85}"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070ACBF8-5221-F1DD-130A-AF04C17267C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F9CC99-AE60-C3F3-5F09-4179B26B9494}"/>
              </a:ext>
            </a:extLst>
          </p:cNvPr>
          <p:cNvSpPr>
            <a:spLocks noGrp="1"/>
          </p:cNvSpPr>
          <p:nvPr>
            <p:ph type="sldNum" sz="quarter" idx="12"/>
          </p:nvPr>
        </p:nvSpPr>
        <p:spPr/>
        <p:txBody>
          <a:body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3008806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とコンテンツ(ページタイトルなし)">
  <p:cSld name="タイトルとコンテンツ(ページタイトルなし)">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Google Shape;21;p33"/>
          <p:cNvSpPr txBox="1">
            <a:spLocks noGrp="1"/>
          </p:cNvSpPr>
          <p:nvPr>
            <p:ph type="title"/>
          </p:nvPr>
        </p:nvSpPr>
        <p:spPr>
          <a:xfrm>
            <a:off x="522000" y="194600"/>
            <a:ext cx="10620000" cy="51561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2" name="Google Shape;22;p33"/>
          <p:cNvCxnSpPr/>
          <p:nvPr/>
        </p:nvCxnSpPr>
        <p:spPr>
          <a:xfrm>
            <a:off x="504545" y="774170"/>
            <a:ext cx="10656000" cy="0"/>
          </a:xfrm>
          <a:prstGeom prst="straightConnector1">
            <a:avLst/>
          </a:prstGeom>
          <a:noFill/>
          <a:ln w="12700" cap="flat" cmpd="sng">
            <a:solidFill>
              <a:schemeClr val="lt2"/>
            </a:solidFill>
            <a:prstDash val="solid"/>
            <a:miter lim="800000"/>
            <a:headEnd type="none" w="sm" len="sm"/>
            <a:tailEnd type="none" w="sm" len="sm"/>
          </a:ln>
        </p:spPr>
      </p:cxnSp>
      <p:sp>
        <p:nvSpPr>
          <p:cNvPr id="23" name="Google Shape;23;p33"/>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3"/>
          <p:cNvSpPr txBox="1">
            <a:spLocks noGrp="1"/>
          </p:cNvSpPr>
          <p:nvPr>
            <p:ph type="sldNum" idx="12"/>
          </p:nvPr>
        </p:nvSpPr>
        <p:spPr>
          <a:xfrm>
            <a:off x="522000" y="6588000"/>
            <a:ext cx="180000" cy="108000"/>
          </a:xfrm>
          <a:prstGeom prst="rect">
            <a:avLst/>
          </a:prstGeom>
          <a:noFill/>
          <a:ln>
            <a:noFill/>
          </a:ln>
        </p:spPr>
        <p:txBody>
          <a:bodyPr spcFirstLastPara="1" wrap="square" lIns="0" tIns="0" rIns="0" bIns="0" anchor="ctr" anchorCtr="0">
            <a:spAutoFit/>
          </a:bodyPr>
          <a:lstStyle>
            <a:lvl1pPr marL="0" lvl="0" indent="0" algn="l">
              <a:spcBef>
                <a:spcPts val="0"/>
              </a:spcBef>
              <a:buNone/>
              <a:defRPr sz="900" b="0" i="0" u="none" strike="noStrike" cap="none">
                <a:solidFill>
                  <a:schemeClr val="lt2"/>
                </a:solidFill>
                <a:latin typeface="MS PGothic"/>
                <a:ea typeface="MS PGothic"/>
                <a:cs typeface="MS PGothic"/>
                <a:sym typeface="MS PGothic"/>
              </a:defRPr>
            </a:lvl1pPr>
            <a:lvl2pPr marL="0" lvl="1" indent="0" algn="l">
              <a:spcBef>
                <a:spcPts val="0"/>
              </a:spcBef>
              <a:buNone/>
              <a:defRPr sz="900" b="0" i="0" u="none" strike="noStrike" cap="none">
                <a:solidFill>
                  <a:schemeClr val="lt2"/>
                </a:solidFill>
                <a:latin typeface="MS PGothic"/>
                <a:ea typeface="MS PGothic"/>
                <a:cs typeface="MS PGothic"/>
                <a:sym typeface="MS PGothic"/>
              </a:defRPr>
            </a:lvl2pPr>
            <a:lvl3pPr marL="0" lvl="2" indent="0" algn="l">
              <a:spcBef>
                <a:spcPts val="0"/>
              </a:spcBef>
              <a:buNone/>
              <a:defRPr sz="900" b="0" i="0" u="none" strike="noStrike" cap="none">
                <a:solidFill>
                  <a:schemeClr val="lt2"/>
                </a:solidFill>
                <a:latin typeface="MS PGothic"/>
                <a:ea typeface="MS PGothic"/>
                <a:cs typeface="MS PGothic"/>
                <a:sym typeface="MS PGothic"/>
              </a:defRPr>
            </a:lvl3pPr>
            <a:lvl4pPr marL="0" lvl="3" indent="0" algn="l">
              <a:spcBef>
                <a:spcPts val="0"/>
              </a:spcBef>
              <a:buNone/>
              <a:defRPr sz="900" b="0" i="0" u="none" strike="noStrike" cap="none">
                <a:solidFill>
                  <a:schemeClr val="lt2"/>
                </a:solidFill>
                <a:latin typeface="MS PGothic"/>
                <a:ea typeface="MS PGothic"/>
                <a:cs typeface="MS PGothic"/>
                <a:sym typeface="MS PGothic"/>
              </a:defRPr>
            </a:lvl4pPr>
            <a:lvl5pPr marL="0" lvl="4" indent="0" algn="l">
              <a:spcBef>
                <a:spcPts val="0"/>
              </a:spcBef>
              <a:buNone/>
              <a:defRPr sz="900" b="0" i="0" u="none" strike="noStrike" cap="none">
                <a:solidFill>
                  <a:schemeClr val="lt2"/>
                </a:solidFill>
                <a:latin typeface="MS PGothic"/>
                <a:ea typeface="MS PGothic"/>
                <a:cs typeface="MS PGothic"/>
                <a:sym typeface="MS PGothic"/>
              </a:defRPr>
            </a:lvl5pPr>
            <a:lvl6pPr marL="0" lvl="5" indent="0" algn="l">
              <a:spcBef>
                <a:spcPts val="0"/>
              </a:spcBef>
              <a:buNone/>
              <a:defRPr sz="900" b="0" i="0" u="none" strike="noStrike" cap="none">
                <a:solidFill>
                  <a:schemeClr val="lt2"/>
                </a:solidFill>
                <a:latin typeface="MS PGothic"/>
                <a:ea typeface="MS PGothic"/>
                <a:cs typeface="MS PGothic"/>
                <a:sym typeface="MS PGothic"/>
              </a:defRPr>
            </a:lvl6pPr>
            <a:lvl7pPr marL="0" lvl="6" indent="0" algn="l">
              <a:spcBef>
                <a:spcPts val="0"/>
              </a:spcBef>
              <a:buNone/>
              <a:defRPr sz="900" b="0" i="0" u="none" strike="noStrike" cap="none">
                <a:solidFill>
                  <a:schemeClr val="lt2"/>
                </a:solidFill>
                <a:latin typeface="MS PGothic"/>
                <a:ea typeface="MS PGothic"/>
                <a:cs typeface="MS PGothic"/>
                <a:sym typeface="MS PGothic"/>
              </a:defRPr>
            </a:lvl7pPr>
            <a:lvl8pPr marL="0" lvl="7" indent="0" algn="l">
              <a:spcBef>
                <a:spcPts val="0"/>
              </a:spcBef>
              <a:buNone/>
              <a:defRPr sz="900" b="0" i="0" u="none" strike="noStrike" cap="none">
                <a:solidFill>
                  <a:schemeClr val="lt2"/>
                </a:solidFill>
                <a:latin typeface="MS PGothic"/>
                <a:ea typeface="MS PGothic"/>
                <a:cs typeface="MS PGothic"/>
                <a:sym typeface="MS PGothic"/>
              </a:defRPr>
            </a:lvl8pPr>
            <a:lvl9pPr marL="0" lvl="8" indent="0" algn="l">
              <a:spcBef>
                <a:spcPts val="0"/>
              </a:spcBef>
              <a:buNone/>
              <a:defRPr sz="900" b="0" i="0" u="none" strike="noStrike" cap="none">
                <a:solidFill>
                  <a:schemeClr val="lt2"/>
                </a:solidFill>
                <a:latin typeface="MS PGothic"/>
                <a:ea typeface="MS PGothic"/>
                <a:cs typeface="MS PGothic"/>
                <a:sym typeface="MS PGothic"/>
              </a:defRPr>
            </a:lvl9pPr>
          </a:lstStyle>
          <a:p>
            <a:pPr marL="0" lvl="0" indent="0" algn="l" rtl="0">
              <a:spcBef>
                <a:spcPts val="0"/>
              </a:spcBef>
              <a:spcAft>
                <a:spcPts val="0"/>
              </a:spcAft>
              <a:buNone/>
            </a:pPr>
            <a:fld id="{00000000-1234-1234-1234-123412341234}" type="slidenum">
              <a:rPr lang="ja-JP"/>
              <a:t>‹#›</a:t>
            </a:fld>
            <a:endParaRPr/>
          </a:p>
        </p:txBody>
      </p:sp>
      <p:sp>
        <p:nvSpPr>
          <p:cNvPr id="25" name="Google Shape;25;p33"/>
          <p:cNvSpPr txBox="1">
            <a:spLocks noGrp="1"/>
          </p:cNvSpPr>
          <p:nvPr>
            <p:ph type="body" idx="1"/>
          </p:nvPr>
        </p:nvSpPr>
        <p:spPr>
          <a:xfrm>
            <a:off x="941697" y="1136345"/>
            <a:ext cx="10590396" cy="537244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Clr>
                <a:schemeClr val="dk1"/>
              </a:buClr>
              <a:buSzPts val="2400"/>
              <a:buChar char="•"/>
              <a:defRPr sz="2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974624118"/>
      </p:ext>
    </p:extLst>
  </p:cSld>
  <p:clrMapOvr>
    <a:masterClrMapping/>
  </p:clrMapOvr>
  <p:extLst>
    <p:ext uri="{DCECCB84-F9BA-43D5-87BE-67443E8EF086}">
      <p15:sldGuideLst xmlns:p15="http://schemas.microsoft.com/office/powerpoint/2012/main">
        <p15:guide id="1" orient="horz" pos="640">
          <p15:clr>
            <a:srgbClr val="FBAE40"/>
          </p15:clr>
        </p15:guide>
        <p15:guide id="2" orient="horz" pos="41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タイトル スライド">
  <p:cSld name="1_タイトル スライド">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32"/>
          <p:cNvSpPr txBox="1">
            <a:spLocks noGrp="1"/>
          </p:cNvSpPr>
          <p:nvPr>
            <p:ph type="title"/>
          </p:nvPr>
        </p:nvSpPr>
        <p:spPr>
          <a:xfrm>
            <a:off x="521999" y="900000"/>
            <a:ext cx="11340000" cy="1979314"/>
          </a:xfrm>
          <a:prstGeom prst="rect">
            <a:avLst/>
          </a:prstGeom>
          <a:noFill/>
          <a:ln>
            <a:noFill/>
          </a:ln>
        </p:spPr>
        <p:txBody>
          <a:bodyPr spcFirstLastPara="1" wrap="square" lIns="180000" tIns="45700" rIns="180000" bIns="45700" anchor="ctr" anchorCtr="0">
            <a:normAutofit/>
          </a:bodyPr>
          <a:lstStyle>
            <a:lvl1pPr lvl="0" algn="l">
              <a:lnSpc>
                <a:spcPct val="10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2"/>
          <p:cNvSpPr txBox="1">
            <a:spLocks noGrp="1"/>
          </p:cNvSpPr>
          <p:nvPr>
            <p:ph type="dt" idx="10"/>
          </p:nvPr>
        </p:nvSpPr>
        <p:spPr>
          <a:xfrm>
            <a:off x="522000" y="3060000"/>
            <a:ext cx="3600000" cy="360708"/>
          </a:xfrm>
          <a:prstGeom prst="rect">
            <a:avLst/>
          </a:prstGeom>
          <a:noFill/>
          <a:ln>
            <a:noFill/>
          </a:ln>
        </p:spPr>
        <p:txBody>
          <a:bodyPr spcFirstLastPara="1" wrap="square" lIns="180000" tIns="45700" rIns="1800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2"/>
          <p:cNvSpPr txBox="1">
            <a:spLocks noGrp="1"/>
          </p:cNvSpPr>
          <p:nvPr>
            <p:ph type="body" idx="1"/>
          </p:nvPr>
        </p:nvSpPr>
        <p:spPr>
          <a:xfrm>
            <a:off x="608400" y="3521487"/>
            <a:ext cx="9358848" cy="102388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303942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BA2157F-A454-0810-33FA-DDB540E2CA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2D8B28F-AAEB-287B-71A5-23B805FEEF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3905A35-C053-7686-A33F-14C93729EC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02118E-24A7-44D9-81AA-B723A97BAE85}"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52A38DE1-73DA-811F-000D-1AC6D28C2E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1D1F07D-1D9B-088A-7D95-531A3705AF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D39A7B-B045-42C1-81FB-B6075AB0CA1E}" type="slidenum">
              <a:rPr kumimoji="1" lang="ja-JP" altLang="en-US" smtClean="0"/>
              <a:t>‹#›</a:t>
            </a:fld>
            <a:endParaRPr kumimoji="1" lang="ja-JP" altLang="en-US"/>
          </a:p>
        </p:txBody>
      </p:sp>
    </p:spTree>
    <p:extLst>
      <p:ext uri="{BB962C8B-B14F-4D97-AF65-F5344CB8AC3E}">
        <p14:creationId xmlns:p14="http://schemas.microsoft.com/office/powerpoint/2010/main" val="1960802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tomoblog.net/programing/python/yolo/gpu-object-detect-time/"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s://gist.github.com/rcland12/dc48e1963268ff98c8b2c4543e7a9be8"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
          <p:cNvSpPr txBox="1">
            <a:spLocks noGrp="1"/>
          </p:cNvSpPr>
          <p:nvPr>
            <p:ph type="title"/>
          </p:nvPr>
        </p:nvSpPr>
        <p:spPr>
          <a:xfrm>
            <a:off x="576720" y="1375954"/>
            <a:ext cx="11340000" cy="1381440"/>
          </a:xfrm>
          <a:prstGeom prst="rect">
            <a:avLst/>
          </a:prstGeom>
          <a:noFill/>
          <a:ln>
            <a:noFill/>
          </a:ln>
        </p:spPr>
        <p:txBody>
          <a:bodyPr spcFirstLastPara="1" wrap="square" lIns="180000" tIns="45700" rIns="180000" bIns="45700" anchor="ctr" anchorCtr="0">
            <a:normAutofit/>
          </a:bodyPr>
          <a:lstStyle/>
          <a:p>
            <a:pPr marL="0" lvl="0" indent="0" algn="l" rtl="0">
              <a:lnSpc>
                <a:spcPct val="100000"/>
              </a:lnSpc>
              <a:spcBef>
                <a:spcPts val="0"/>
              </a:spcBef>
              <a:spcAft>
                <a:spcPts val="0"/>
              </a:spcAft>
              <a:buClr>
                <a:schemeClr val="dk1"/>
              </a:buClr>
              <a:buSzPts val="3600"/>
              <a:buFont typeface="Arial"/>
              <a:buNone/>
            </a:pPr>
            <a:r>
              <a:rPr lang="en-US" altLang="ja-JP" sz="4400" dirty="0"/>
              <a:t>YOLO</a:t>
            </a:r>
            <a:r>
              <a:rPr lang="ja-JP" altLang="en-US" sz="4400" dirty="0"/>
              <a:t>を使って物体検知してみたい</a:t>
            </a:r>
            <a:endParaRPr sz="7200" dirty="0"/>
          </a:p>
        </p:txBody>
      </p:sp>
      <p:sp>
        <p:nvSpPr>
          <p:cNvPr id="100" name="Google Shape;100;p1"/>
          <p:cNvSpPr txBox="1">
            <a:spLocks noGrp="1"/>
          </p:cNvSpPr>
          <p:nvPr>
            <p:ph type="dt" idx="10"/>
          </p:nvPr>
        </p:nvSpPr>
        <p:spPr>
          <a:xfrm>
            <a:off x="522000" y="3060000"/>
            <a:ext cx="3600000" cy="360708"/>
          </a:xfrm>
          <a:prstGeom prst="rect">
            <a:avLst/>
          </a:prstGeom>
          <a:noFill/>
          <a:ln>
            <a:noFill/>
          </a:ln>
        </p:spPr>
        <p:txBody>
          <a:bodyPr spcFirstLastPara="1" wrap="square" lIns="180000" tIns="45700" rIns="180000" bIns="45700" anchor="ctr" anchorCtr="0">
            <a:noAutofit/>
          </a:bodyPr>
          <a:lstStyle/>
          <a:p>
            <a:pPr marL="0" lvl="0" indent="0" algn="l" rtl="0">
              <a:spcBef>
                <a:spcPts val="0"/>
              </a:spcBef>
              <a:spcAft>
                <a:spcPts val="0"/>
              </a:spcAft>
              <a:buNone/>
            </a:pPr>
            <a:r>
              <a:rPr lang="ja-JP" dirty="0"/>
              <a:t>202</a:t>
            </a:r>
            <a:r>
              <a:rPr lang="en-US" altLang="ja-JP" dirty="0"/>
              <a:t>6</a:t>
            </a:r>
            <a:r>
              <a:rPr lang="ja-JP" dirty="0"/>
              <a:t>年</a:t>
            </a:r>
            <a:r>
              <a:rPr lang="en-US" altLang="ja-JP" dirty="0"/>
              <a:t>1</a:t>
            </a:r>
            <a:r>
              <a:rPr lang="ja-JP" dirty="0"/>
              <a:t>月</a:t>
            </a:r>
            <a:r>
              <a:rPr lang="en-US" altLang="ja-JP" dirty="0"/>
              <a:t>23</a:t>
            </a:r>
            <a:r>
              <a:rPr lang="ja-JP" dirty="0"/>
              <a:t>日</a:t>
            </a:r>
            <a:endParaRPr dirty="0"/>
          </a:p>
        </p:txBody>
      </p:sp>
      <p:sp>
        <p:nvSpPr>
          <p:cNvPr id="101" name="Google Shape;101;p1"/>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2" name="Google Shape;102;p1"/>
          <p:cNvSpPr txBox="1">
            <a:spLocks noGrp="1"/>
          </p:cNvSpPr>
          <p:nvPr>
            <p:ph type="body" idx="1"/>
          </p:nvPr>
        </p:nvSpPr>
        <p:spPr>
          <a:xfrm>
            <a:off x="608400" y="3521487"/>
            <a:ext cx="9358848" cy="102388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ts val="2800"/>
              <a:buNone/>
            </a:pPr>
            <a:r>
              <a:rPr lang="ja-JP" altLang="en-US" dirty="0"/>
              <a:t>プロダクト</a:t>
            </a:r>
            <a:r>
              <a:rPr lang="ja-JP" dirty="0"/>
              <a:t>開発課２G　</a:t>
            </a:r>
            <a:endParaRPr dirty="0"/>
          </a:p>
          <a:p>
            <a:pPr marL="0" lvl="0" indent="0" algn="l" rtl="0">
              <a:lnSpc>
                <a:spcPct val="100000"/>
              </a:lnSpc>
              <a:spcBef>
                <a:spcPts val="1000"/>
              </a:spcBef>
              <a:spcAft>
                <a:spcPts val="0"/>
              </a:spcAft>
              <a:buClr>
                <a:schemeClr val="dk1"/>
              </a:buClr>
              <a:buSzPts val="2800"/>
              <a:buNone/>
            </a:pPr>
            <a:r>
              <a:rPr lang="ja-JP" dirty="0"/>
              <a:t>福尾遼太</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b="0" i="0" u="none" strike="noStrike" cap="none" dirty="0">
                <a:solidFill>
                  <a:schemeClr val="dk1"/>
                </a:solidFill>
                <a:latin typeface="+mn-ea"/>
                <a:cs typeface="Arial"/>
                <a:sym typeface="Arial"/>
              </a:rPr>
              <a:t>目次</a:t>
            </a:r>
            <a:endParaRPr sz="2800" dirty="0">
              <a:solidFill>
                <a:schemeClr val="dk1"/>
              </a:solidFill>
              <a:latin typeface="+mn-ea"/>
              <a:cs typeface="Arial"/>
              <a:sym typeface="Arial"/>
            </a:endParaRPr>
          </a:p>
        </p:txBody>
      </p:sp>
      <p:sp>
        <p:nvSpPr>
          <p:cNvPr id="109" name="Google Shape;109;p2"/>
          <p:cNvSpPr txBox="1"/>
          <p:nvPr/>
        </p:nvSpPr>
        <p:spPr>
          <a:xfrm>
            <a:off x="774700" y="1209851"/>
            <a:ext cx="10642600" cy="39702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dirty="0">
                <a:solidFill>
                  <a:schemeClr val="dk1"/>
                </a:solidFill>
                <a:latin typeface="+mn-ea"/>
                <a:cs typeface="Arial"/>
                <a:sym typeface="Arial"/>
              </a:rPr>
              <a:t>・</a:t>
            </a:r>
            <a:r>
              <a:rPr lang="ja-JP" altLang="en-US" sz="2800" dirty="0">
                <a:solidFill>
                  <a:schemeClr val="dk1"/>
                </a:solidFill>
                <a:latin typeface="+mn-ea"/>
                <a:cs typeface="Arial"/>
                <a:sym typeface="Arial"/>
              </a:rPr>
              <a:t>動機</a:t>
            </a:r>
            <a:endParaRPr lang="en-US" altLang="ja-JP" sz="2800" dirty="0">
              <a:solidFill>
                <a:schemeClr val="dk1"/>
              </a:solidFill>
              <a:latin typeface="+mn-ea"/>
              <a:cs typeface="Arial"/>
              <a:sym typeface="Arial"/>
            </a:endParaRPr>
          </a:p>
          <a:p>
            <a:pPr marL="0" marR="0" lvl="0" indent="0" algn="l" rtl="0">
              <a:spcBef>
                <a:spcPts val="0"/>
              </a:spcBef>
              <a:spcAft>
                <a:spcPts val="0"/>
              </a:spcAft>
              <a:buNone/>
            </a:pPr>
            <a:endParaRPr sz="2800" dirty="0">
              <a:solidFill>
                <a:schemeClr val="dk1"/>
              </a:solidFill>
              <a:latin typeface="+mn-ea"/>
              <a:cs typeface="Arial"/>
              <a:sym typeface="Arial"/>
            </a:endParaRPr>
          </a:p>
          <a:p>
            <a:pPr marL="0" marR="0" lvl="0" indent="0" algn="l" rtl="0">
              <a:spcBef>
                <a:spcPts val="0"/>
              </a:spcBef>
              <a:spcAft>
                <a:spcPts val="0"/>
              </a:spcAft>
              <a:buNone/>
            </a:pPr>
            <a:r>
              <a:rPr lang="ja-JP" sz="2800" dirty="0">
                <a:solidFill>
                  <a:schemeClr val="dk1"/>
                </a:solidFill>
                <a:latin typeface="+mn-ea"/>
                <a:cs typeface="Arial"/>
                <a:sym typeface="Arial"/>
              </a:rPr>
              <a:t>・</a:t>
            </a:r>
            <a:r>
              <a:rPr lang="en-US" altLang="ja-JP" sz="2800" dirty="0">
                <a:solidFill>
                  <a:schemeClr val="dk1"/>
                </a:solidFill>
                <a:latin typeface="+mn-ea"/>
                <a:cs typeface="Arial"/>
                <a:sym typeface="Arial"/>
              </a:rPr>
              <a:t>YOLO</a:t>
            </a:r>
            <a:r>
              <a:rPr lang="ja-JP" altLang="en-US" sz="2800" dirty="0">
                <a:solidFill>
                  <a:schemeClr val="dk1"/>
                </a:solidFill>
                <a:latin typeface="+mn-ea"/>
                <a:cs typeface="Arial"/>
                <a:sym typeface="Arial"/>
              </a:rPr>
              <a:t>について</a:t>
            </a:r>
            <a:endParaRPr sz="2800" dirty="0">
              <a:solidFill>
                <a:schemeClr val="dk1"/>
              </a:solidFill>
              <a:latin typeface="+mn-ea"/>
              <a:cs typeface="Arial"/>
              <a:sym typeface="Arial"/>
            </a:endParaRPr>
          </a:p>
          <a:p>
            <a:pPr marL="0" marR="0" lvl="0" indent="0" algn="l" rtl="0">
              <a:spcBef>
                <a:spcPts val="0"/>
              </a:spcBef>
              <a:spcAft>
                <a:spcPts val="0"/>
              </a:spcAft>
              <a:buNone/>
            </a:pPr>
            <a:endParaRPr sz="2800" dirty="0">
              <a:solidFill>
                <a:schemeClr val="dk1"/>
              </a:solidFill>
              <a:latin typeface="+mn-ea"/>
              <a:cs typeface="Arial"/>
              <a:sym typeface="Arial"/>
            </a:endParaRPr>
          </a:p>
          <a:p>
            <a:pPr marL="0" marR="0" lvl="0" indent="0" algn="l" rtl="0">
              <a:spcBef>
                <a:spcPts val="0"/>
              </a:spcBef>
              <a:spcAft>
                <a:spcPts val="0"/>
              </a:spcAft>
              <a:buNone/>
            </a:pPr>
            <a:r>
              <a:rPr lang="ja-JP" sz="2800" dirty="0">
                <a:solidFill>
                  <a:schemeClr val="dk1"/>
                </a:solidFill>
                <a:latin typeface="+mn-ea"/>
                <a:cs typeface="Arial"/>
                <a:sym typeface="Arial"/>
              </a:rPr>
              <a:t>・</a:t>
            </a:r>
            <a:r>
              <a:rPr lang="ja-JP" altLang="en-US" sz="2800" dirty="0">
                <a:solidFill>
                  <a:schemeClr val="dk1"/>
                </a:solidFill>
                <a:latin typeface="+mn-ea"/>
                <a:cs typeface="Arial"/>
                <a:sym typeface="Arial"/>
              </a:rPr>
              <a:t>比較してみた</a:t>
            </a:r>
            <a:endParaRPr sz="2800" dirty="0">
              <a:solidFill>
                <a:schemeClr val="dk1"/>
              </a:solidFill>
              <a:latin typeface="+mn-ea"/>
              <a:cs typeface="Arial"/>
              <a:sym typeface="Arial"/>
            </a:endParaRPr>
          </a:p>
          <a:p>
            <a:pPr marL="0" marR="0" lvl="0" indent="0" algn="l" rtl="0">
              <a:spcBef>
                <a:spcPts val="0"/>
              </a:spcBef>
              <a:spcAft>
                <a:spcPts val="0"/>
              </a:spcAft>
              <a:buNone/>
            </a:pPr>
            <a:endParaRPr sz="2800" dirty="0">
              <a:solidFill>
                <a:schemeClr val="dk1"/>
              </a:solidFill>
              <a:latin typeface="+mn-ea"/>
              <a:cs typeface="Arial"/>
              <a:sym typeface="Arial"/>
            </a:endParaRPr>
          </a:p>
          <a:p>
            <a:pPr marL="0" marR="0" lvl="0" indent="0" algn="l" rtl="0">
              <a:spcBef>
                <a:spcPts val="0"/>
              </a:spcBef>
              <a:spcAft>
                <a:spcPts val="0"/>
              </a:spcAft>
              <a:buNone/>
            </a:pPr>
            <a:r>
              <a:rPr lang="ja-JP" sz="2800" dirty="0">
                <a:solidFill>
                  <a:schemeClr val="dk1"/>
                </a:solidFill>
                <a:latin typeface="+mn-ea"/>
                <a:cs typeface="Arial"/>
                <a:sym typeface="Arial"/>
              </a:rPr>
              <a:t>・</a:t>
            </a:r>
            <a:r>
              <a:rPr lang="ja-JP" altLang="en-US" sz="2800" dirty="0">
                <a:solidFill>
                  <a:schemeClr val="dk1"/>
                </a:solidFill>
                <a:latin typeface="+mn-ea"/>
                <a:cs typeface="Arial"/>
                <a:sym typeface="Arial"/>
              </a:rPr>
              <a:t>今後について</a:t>
            </a:r>
            <a:endParaRPr sz="2800" dirty="0">
              <a:solidFill>
                <a:schemeClr val="dk1"/>
              </a:solidFill>
              <a:latin typeface="+mn-ea"/>
              <a:cs typeface="Arial"/>
              <a:sym typeface="Arial"/>
            </a:endParaRPr>
          </a:p>
          <a:p>
            <a:pPr marL="0" marR="0" lvl="0" indent="0" algn="l" rtl="0">
              <a:spcBef>
                <a:spcPts val="0"/>
              </a:spcBef>
              <a:spcAft>
                <a:spcPts val="0"/>
              </a:spcAft>
              <a:buNone/>
            </a:pPr>
            <a:endParaRPr sz="2800" dirty="0">
              <a:solidFill>
                <a:schemeClr val="dk1"/>
              </a:solidFill>
              <a:latin typeface="+mn-ea"/>
              <a:cs typeface="Arial"/>
              <a:sym typeface="Arial"/>
            </a:endParaRPr>
          </a:p>
          <a:p>
            <a:pPr marL="0" marR="0" lvl="0" indent="0" algn="l" rtl="0">
              <a:spcBef>
                <a:spcPts val="0"/>
              </a:spcBef>
              <a:spcAft>
                <a:spcPts val="0"/>
              </a:spcAft>
              <a:buNone/>
            </a:pPr>
            <a:r>
              <a:rPr lang="ja-JP" sz="2800" dirty="0">
                <a:solidFill>
                  <a:schemeClr val="dk1"/>
                </a:solidFill>
                <a:latin typeface="+mn-ea"/>
                <a:cs typeface="Arial"/>
                <a:sym typeface="Arial"/>
              </a:rPr>
              <a:t>・所感</a:t>
            </a:r>
            <a:endParaRPr sz="2800" dirty="0">
              <a:solidFill>
                <a:schemeClr val="dk1"/>
              </a:solidFill>
              <a:latin typeface="+mn-ea"/>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mn-ea"/>
                <a:cs typeface="Arial"/>
                <a:sym typeface="Arial"/>
              </a:rPr>
              <a:t>動機</a:t>
            </a:r>
            <a:endParaRPr sz="2800" dirty="0">
              <a:solidFill>
                <a:schemeClr val="dk1"/>
              </a:solidFill>
              <a:latin typeface="+mn-ea"/>
              <a:cs typeface="Arial"/>
              <a:sym typeface="Arial"/>
            </a:endParaRPr>
          </a:p>
        </p:txBody>
      </p:sp>
      <p:sp>
        <p:nvSpPr>
          <p:cNvPr id="109" name="Google Shape;109;p2"/>
          <p:cNvSpPr txBox="1"/>
          <p:nvPr/>
        </p:nvSpPr>
        <p:spPr>
          <a:xfrm>
            <a:off x="2773680" y="2721154"/>
            <a:ext cx="6929120"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4000" b="1" dirty="0">
                <a:solidFill>
                  <a:schemeClr val="dk1"/>
                </a:solidFill>
                <a:latin typeface="+mn-ea"/>
                <a:cs typeface="Arial"/>
                <a:sym typeface="Arial"/>
              </a:rPr>
              <a:t>物体検知</a:t>
            </a:r>
            <a:r>
              <a:rPr lang="ja-JP" altLang="en-US" sz="4000" dirty="0">
                <a:solidFill>
                  <a:schemeClr val="dk1"/>
                </a:solidFill>
                <a:latin typeface="+mn-ea"/>
                <a:cs typeface="Arial"/>
                <a:sym typeface="Arial"/>
              </a:rPr>
              <a:t>ってご存じですか？</a:t>
            </a:r>
            <a:endParaRPr sz="4000" dirty="0">
              <a:solidFill>
                <a:schemeClr val="dk1"/>
              </a:solidFill>
              <a:latin typeface="+mn-ea"/>
              <a:cs typeface="Arial"/>
              <a:sym typeface="Arial"/>
            </a:endParaRPr>
          </a:p>
        </p:txBody>
      </p:sp>
    </p:spTree>
    <p:extLst>
      <p:ext uri="{BB962C8B-B14F-4D97-AF65-F5344CB8AC3E}">
        <p14:creationId xmlns:p14="http://schemas.microsoft.com/office/powerpoint/2010/main" val="1556643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pic>
        <p:nvPicPr>
          <p:cNvPr id="3" name="図 2">
            <a:extLst>
              <a:ext uri="{FF2B5EF4-FFF2-40B4-BE49-F238E27FC236}">
                <a16:creationId xmlns:a16="http://schemas.microsoft.com/office/drawing/2014/main" id="{4F659E0C-912D-0DC4-0852-7CAF8E167C59}"/>
              </a:ext>
            </a:extLst>
          </p:cNvPr>
          <p:cNvPicPr>
            <a:picLocks noChangeAspect="1"/>
          </p:cNvPicPr>
          <p:nvPr/>
        </p:nvPicPr>
        <p:blipFill>
          <a:blip r:embed="rId3"/>
          <a:stretch>
            <a:fillRect/>
          </a:stretch>
        </p:blipFill>
        <p:spPr>
          <a:xfrm>
            <a:off x="1133703" y="734886"/>
            <a:ext cx="4822768" cy="3632406"/>
          </a:xfrm>
          <a:prstGeom prst="rect">
            <a:avLst/>
          </a:prstGeom>
        </p:spPr>
      </p:pic>
      <p:sp>
        <p:nvSpPr>
          <p:cNvPr id="4" name="Google Shape;108;p2">
            <a:extLst>
              <a:ext uri="{FF2B5EF4-FFF2-40B4-BE49-F238E27FC236}">
                <a16:creationId xmlns:a16="http://schemas.microsoft.com/office/drawing/2014/main" id="{EB9E0573-E5D6-751B-F057-CC018F23F08B}"/>
              </a:ext>
            </a:extLst>
          </p:cNvPr>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Arial"/>
                <a:ea typeface="Arial"/>
                <a:cs typeface="Arial"/>
                <a:sym typeface="Arial"/>
              </a:rPr>
              <a:t>動機</a:t>
            </a:r>
            <a:endParaRPr sz="2800" dirty="0">
              <a:solidFill>
                <a:schemeClr val="dk1"/>
              </a:solidFill>
              <a:latin typeface="Arial"/>
              <a:ea typeface="Arial"/>
              <a:cs typeface="Arial"/>
              <a:sym typeface="Arial"/>
            </a:endParaRPr>
          </a:p>
        </p:txBody>
      </p:sp>
      <p:pic>
        <p:nvPicPr>
          <p:cNvPr id="6" name="図 5">
            <a:extLst>
              <a:ext uri="{FF2B5EF4-FFF2-40B4-BE49-F238E27FC236}">
                <a16:creationId xmlns:a16="http://schemas.microsoft.com/office/drawing/2014/main" id="{953944A6-83C7-C8A8-02F7-64777F08CA16}"/>
              </a:ext>
            </a:extLst>
          </p:cNvPr>
          <p:cNvPicPr>
            <a:picLocks noChangeAspect="1"/>
          </p:cNvPicPr>
          <p:nvPr/>
        </p:nvPicPr>
        <p:blipFill>
          <a:blip r:embed="rId4"/>
          <a:stretch>
            <a:fillRect/>
          </a:stretch>
        </p:blipFill>
        <p:spPr>
          <a:xfrm>
            <a:off x="5956471" y="3337065"/>
            <a:ext cx="4742395" cy="3520935"/>
          </a:xfrm>
          <a:prstGeom prst="rect">
            <a:avLst/>
          </a:prstGeom>
        </p:spPr>
      </p:pic>
    </p:spTree>
    <p:extLst>
      <p:ext uri="{BB962C8B-B14F-4D97-AF65-F5344CB8AC3E}">
        <p14:creationId xmlns:p14="http://schemas.microsoft.com/office/powerpoint/2010/main" val="605572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4" name="Google Shape;108;p2">
            <a:extLst>
              <a:ext uri="{FF2B5EF4-FFF2-40B4-BE49-F238E27FC236}">
                <a16:creationId xmlns:a16="http://schemas.microsoft.com/office/drawing/2014/main" id="{EB9E0573-E5D6-751B-F057-CC018F23F08B}"/>
              </a:ext>
            </a:extLst>
          </p:cNvPr>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b="1" dirty="0">
                <a:solidFill>
                  <a:schemeClr val="dk1"/>
                </a:solidFill>
                <a:latin typeface="游ゴシック" panose="020B0400000000000000" pitchFamily="50" charset="-128"/>
                <a:ea typeface="游ゴシック" panose="020B0400000000000000" pitchFamily="50" charset="-128"/>
                <a:cs typeface="Arial"/>
                <a:sym typeface="Arial"/>
              </a:rPr>
              <a:t>動機</a:t>
            </a:r>
            <a:endParaRPr sz="2800" b="1" dirty="0">
              <a:solidFill>
                <a:schemeClr val="dk1"/>
              </a:solidFill>
              <a:latin typeface="游ゴシック" panose="020B0400000000000000" pitchFamily="50" charset="-128"/>
              <a:ea typeface="游ゴシック" panose="020B0400000000000000" pitchFamily="50" charset="-128"/>
              <a:cs typeface="Arial"/>
              <a:sym typeface="Arial"/>
            </a:endParaRPr>
          </a:p>
        </p:txBody>
      </p:sp>
      <p:sp>
        <p:nvSpPr>
          <p:cNvPr id="2" name="Google Shape;109;p2">
            <a:extLst>
              <a:ext uri="{FF2B5EF4-FFF2-40B4-BE49-F238E27FC236}">
                <a16:creationId xmlns:a16="http://schemas.microsoft.com/office/drawing/2014/main" id="{4F1666E2-E6D8-B66C-DD3D-348EA593F947}"/>
              </a:ext>
            </a:extLst>
          </p:cNvPr>
          <p:cNvSpPr txBox="1"/>
          <p:nvPr/>
        </p:nvSpPr>
        <p:spPr>
          <a:xfrm>
            <a:off x="314960" y="901060"/>
            <a:ext cx="4267200"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ea typeface="Arial"/>
                <a:cs typeface="Arial"/>
                <a:sym typeface="Arial"/>
              </a:rPr>
              <a:t>身近な例</a:t>
            </a:r>
            <a:endParaRPr sz="2800" dirty="0">
              <a:solidFill>
                <a:schemeClr val="dk1"/>
              </a:solidFill>
              <a:ea typeface="Arial"/>
              <a:cs typeface="Arial"/>
              <a:sym typeface="Arial"/>
            </a:endParaRPr>
          </a:p>
        </p:txBody>
      </p:sp>
      <p:pic>
        <p:nvPicPr>
          <p:cNvPr id="7" name="図 6">
            <a:extLst>
              <a:ext uri="{FF2B5EF4-FFF2-40B4-BE49-F238E27FC236}">
                <a16:creationId xmlns:a16="http://schemas.microsoft.com/office/drawing/2014/main" id="{C6AC535F-4F83-C920-1938-ABC2DC2E89BD}"/>
              </a:ext>
            </a:extLst>
          </p:cNvPr>
          <p:cNvPicPr>
            <a:picLocks noChangeAspect="1"/>
          </p:cNvPicPr>
          <p:nvPr/>
        </p:nvPicPr>
        <p:blipFill>
          <a:blip r:embed="rId3"/>
          <a:stretch>
            <a:fillRect/>
          </a:stretch>
        </p:blipFill>
        <p:spPr>
          <a:xfrm>
            <a:off x="7952274" y="1481677"/>
            <a:ext cx="3415126" cy="2176817"/>
          </a:xfrm>
          <a:prstGeom prst="rect">
            <a:avLst/>
          </a:prstGeom>
        </p:spPr>
      </p:pic>
      <p:sp>
        <p:nvSpPr>
          <p:cNvPr id="8" name="Google Shape;109;p2">
            <a:extLst>
              <a:ext uri="{FF2B5EF4-FFF2-40B4-BE49-F238E27FC236}">
                <a16:creationId xmlns:a16="http://schemas.microsoft.com/office/drawing/2014/main" id="{A1E86372-99AE-C744-C565-D109BE510F95}"/>
              </a:ext>
            </a:extLst>
          </p:cNvPr>
          <p:cNvSpPr txBox="1"/>
          <p:nvPr/>
        </p:nvSpPr>
        <p:spPr>
          <a:xfrm>
            <a:off x="6805949" y="987787"/>
            <a:ext cx="4267200"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400" dirty="0">
                <a:solidFill>
                  <a:schemeClr val="dk1"/>
                </a:solidFill>
                <a:ea typeface="Arial"/>
                <a:cs typeface="Arial"/>
                <a:sym typeface="Arial"/>
              </a:rPr>
              <a:t>自動運転</a:t>
            </a:r>
            <a:endParaRPr sz="2400" dirty="0">
              <a:solidFill>
                <a:schemeClr val="dk1"/>
              </a:solidFill>
              <a:ea typeface="Arial"/>
              <a:cs typeface="Arial"/>
              <a:sym typeface="Arial"/>
            </a:endParaRPr>
          </a:p>
        </p:txBody>
      </p:sp>
      <p:pic>
        <p:nvPicPr>
          <p:cNvPr id="10" name="図 9">
            <a:extLst>
              <a:ext uri="{FF2B5EF4-FFF2-40B4-BE49-F238E27FC236}">
                <a16:creationId xmlns:a16="http://schemas.microsoft.com/office/drawing/2014/main" id="{483ED5C4-EADB-6B79-5323-EC615D930187}"/>
              </a:ext>
            </a:extLst>
          </p:cNvPr>
          <p:cNvPicPr>
            <a:picLocks noChangeAspect="1"/>
          </p:cNvPicPr>
          <p:nvPr/>
        </p:nvPicPr>
        <p:blipFill>
          <a:blip r:embed="rId4"/>
          <a:stretch>
            <a:fillRect/>
          </a:stretch>
        </p:blipFill>
        <p:spPr>
          <a:xfrm>
            <a:off x="1053345" y="2135510"/>
            <a:ext cx="3186383" cy="2395850"/>
          </a:xfrm>
          <a:prstGeom prst="rect">
            <a:avLst/>
          </a:prstGeom>
        </p:spPr>
      </p:pic>
      <p:sp>
        <p:nvSpPr>
          <p:cNvPr id="11" name="Google Shape;109;p2">
            <a:extLst>
              <a:ext uri="{FF2B5EF4-FFF2-40B4-BE49-F238E27FC236}">
                <a16:creationId xmlns:a16="http://schemas.microsoft.com/office/drawing/2014/main" id="{9C21C6BA-65CA-0954-D322-1BB6A15C704A}"/>
              </a:ext>
            </a:extLst>
          </p:cNvPr>
          <p:cNvSpPr txBox="1"/>
          <p:nvPr/>
        </p:nvSpPr>
        <p:spPr>
          <a:xfrm>
            <a:off x="524933" y="1673886"/>
            <a:ext cx="4267200"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400" dirty="0">
                <a:solidFill>
                  <a:schemeClr val="dk1"/>
                </a:solidFill>
                <a:ea typeface="Arial"/>
                <a:cs typeface="Arial"/>
                <a:sym typeface="Arial"/>
              </a:rPr>
              <a:t>スマホのカメラのピント</a:t>
            </a:r>
            <a:endParaRPr sz="2400" dirty="0">
              <a:solidFill>
                <a:schemeClr val="dk1"/>
              </a:solidFill>
              <a:ea typeface="Arial"/>
              <a:cs typeface="Arial"/>
              <a:sym typeface="Arial"/>
            </a:endParaRPr>
          </a:p>
        </p:txBody>
      </p:sp>
      <p:pic>
        <p:nvPicPr>
          <p:cNvPr id="13" name="図 12">
            <a:extLst>
              <a:ext uri="{FF2B5EF4-FFF2-40B4-BE49-F238E27FC236}">
                <a16:creationId xmlns:a16="http://schemas.microsoft.com/office/drawing/2014/main" id="{B428377E-FECF-593F-DA6A-7D6E6F755BBA}"/>
              </a:ext>
            </a:extLst>
          </p:cNvPr>
          <p:cNvPicPr>
            <a:picLocks noChangeAspect="1"/>
          </p:cNvPicPr>
          <p:nvPr/>
        </p:nvPicPr>
        <p:blipFill>
          <a:blip r:embed="rId5"/>
          <a:stretch>
            <a:fillRect/>
          </a:stretch>
        </p:blipFill>
        <p:spPr>
          <a:xfrm>
            <a:off x="4927600" y="4135733"/>
            <a:ext cx="2697752" cy="2539937"/>
          </a:xfrm>
          <a:prstGeom prst="rect">
            <a:avLst/>
          </a:prstGeom>
        </p:spPr>
      </p:pic>
      <p:sp>
        <p:nvSpPr>
          <p:cNvPr id="14" name="Google Shape;109;p2">
            <a:extLst>
              <a:ext uri="{FF2B5EF4-FFF2-40B4-BE49-F238E27FC236}">
                <a16:creationId xmlns:a16="http://schemas.microsoft.com/office/drawing/2014/main" id="{62EFC948-F510-4A80-EB41-CA8E1772D3DC}"/>
              </a:ext>
            </a:extLst>
          </p:cNvPr>
          <p:cNvSpPr txBox="1"/>
          <p:nvPr/>
        </p:nvSpPr>
        <p:spPr>
          <a:xfrm>
            <a:off x="4469149" y="3522060"/>
            <a:ext cx="4267200"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400" dirty="0">
                <a:solidFill>
                  <a:schemeClr val="dk1"/>
                </a:solidFill>
                <a:ea typeface="Arial"/>
                <a:cs typeface="Arial"/>
                <a:sym typeface="Arial"/>
              </a:rPr>
              <a:t>防犯カメラ</a:t>
            </a:r>
            <a:endParaRPr sz="2400" dirty="0">
              <a:solidFill>
                <a:schemeClr val="dk1"/>
              </a:solidFill>
              <a:ea typeface="Arial"/>
              <a:cs typeface="Arial"/>
              <a:sym typeface="Arial"/>
            </a:endParaRPr>
          </a:p>
        </p:txBody>
      </p:sp>
    </p:spTree>
    <p:extLst>
      <p:ext uri="{BB962C8B-B14F-4D97-AF65-F5344CB8AC3E}">
        <p14:creationId xmlns:p14="http://schemas.microsoft.com/office/powerpoint/2010/main" val="71611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2ED4A1-F4DB-2368-1FF0-19AEBB6CB32E}"/>
              </a:ext>
            </a:extLst>
          </p:cNvPr>
          <p:cNvSpPr>
            <a:spLocks noGrp="1"/>
          </p:cNvSpPr>
          <p:nvPr>
            <p:ph type="title"/>
          </p:nvPr>
        </p:nvSpPr>
        <p:spPr/>
        <p:txBody>
          <a:bodyPr/>
          <a:lstStyle/>
          <a:p>
            <a:r>
              <a:rPr kumimoji="1" lang="ja-JP" altLang="en-US" b="1" dirty="0">
                <a:latin typeface="+mn-ea"/>
                <a:ea typeface="+mn-ea"/>
              </a:rPr>
              <a:t>動機</a:t>
            </a:r>
          </a:p>
        </p:txBody>
      </p:sp>
      <p:sp>
        <p:nvSpPr>
          <p:cNvPr id="3" name="テキスト プレースホルダー 2">
            <a:extLst>
              <a:ext uri="{FF2B5EF4-FFF2-40B4-BE49-F238E27FC236}">
                <a16:creationId xmlns:a16="http://schemas.microsoft.com/office/drawing/2014/main" id="{0C1AEF4A-9ADA-9B80-C0E4-FF06059DE444}"/>
              </a:ext>
            </a:extLst>
          </p:cNvPr>
          <p:cNvSpPr>
            <a:spLocks noGrp="1"/>
          </p:cNvSpPr>
          <p:nvPr>
            <p:ph type="body" idx="1"/>
          </p:nvPr>
        </p:nvSpPr>
        <p:spPr>
          <a:xfrm>
            <a:off x="1009807" y="1618816"/>
            <a:ext cx="10590396" cy="1684484"/>
          </a:xfrm>
        </p:spPr>
        <p:txBody>
          <a:bodyPr/>
          <a:lstStyle/>
          <a:p>
            <a:pPr marL="76200" indent="0">
              <a:buNone/>
            </a:pPr>
            <a:r>
              <a:rPr lang="ja-JP" altLang="en-US" dirty="0"/>
              <a:t>　①今後</a:t>
            </a:r>
            <a:r>
              <a:rPr lang="en-US" altLang="ja-JP" dirty="0"/>
              <a:t>HOKUSAI</a:t>
            </a:r>
            <a:r>
              <a:rPr lang="ja-JP" altLang="en-US" dirty="0"/>
              <a:t>の開発が始まる</a:t>
            </a:r>
            <a:endParaRPr lang="en-US" altLang="ja-JP" dirty="0"/>
          </a:p>
          <a:p>
            <a:pPr marL="76200" indent="0" algn="r">
              <a:buNone/>
            </a:pPr>
            <a:r>
              <a:rPr kumimoji="1" lang="en-US" altLang="ja-JP" sz="1600" dirty="0"/>
              <a:t>※HOKUSAI</a:t>
            </a:r>
            <a:r>
              <a:rPr kumimoji="1" lang="ja-JP" altLang="en-US" sz="1600" dirty="0"/>
              <a:t>：カメラから切り取った画像を</a:t>
            </a:r>
            <a:r>
              <a:rPr kumimoji="1" lang="en-US" altLang="ja-JP" sz="1600" dirty="0"/>
              <a:t>GUI</a:t>
            </a:r>
            <a:r>
              <a:rPr kumimoji="1" lang="ja-JP" altLang="en-US" sz="1600" dirty="0"/>
              <a:t>で加工や</a:t>
            </a:r>
            <a:r>
              <a:rPr kumimoji="1" lang="en-US" altLang="ja-JP" sz="1600" b="1" dirty="0">
                <a:solidFill>
                  <a:srgbClr val="FF0000"/>
                </a:solidFill>
              </a:rPr>
              <a:t>AI</a:t>
            </a:r>
            <a:r>
              <a:rPr kumimoji="1" lang="ja-JP" altLang="en-US" sz="1600" b="1" dirty="0">
                <a:solidFill>
                  <a:srgbClr val="FF0000"/>
                </a:solidFill>
              </a:rPr>
              <a:t>推論（物体検知）</a:t>
            </a:r>
            <a:endParaRPr kumimoji="1" lang="ja-JP" altLang="en-US" dirty="0"/>
          </a:p>
          <a:p>
            <a:pPr marL="76200" indent="0">
              <a:buNone/>
            </a:pPr>
            <a:r>
              <a:rPr lang="ja-JP" altLang="en-US" dirty="0"/>
              <a:t>　②画像認識分野の知見や経験がまったくない</a:t>
            </a:r>
            <a:endParaRPr lang="en-US" altLang="ja-JP" dirty="0"/>
          </a:p>
          <a:p>
            <a:pPr marL="76200" indent="0">
              <a:buNone/>
            </a:pPr>
            <a:r>
              <a:rPr lang="ja-JP" altLang="en-US" dirty="0"/>
              <a:t>　</a:t>
            </a:r>
            <a:endParaRPr lang="en-US" altLang="ja-JP" dirty="0"/>
          </a:p>
          <a:p>
            <a:pPr marL="76200" indent="0">
              <a:buNone/>
            </a:pPr>
            <a:endParaRPr kumimoji="1" lang="ja-JP" altLang="en-US" dirty="0"/>
          </a:p>
        </p:txBody>
      </p:sp>
      <p:sp>
        <p:nvSpPr>
          <p:cNvPr id="4" name="矢印: 下 3">
            <a:extLst>
              <a:ext uri="{FF2B5EF4-FFF2-40B4-BE49-F238E27FC236}">
                <a16:creationId xmlns:a16="http://schemas.microsoft.com/office/drawing/2014/main" id="{A843F3E4-C82A-FED8-E3C2-E7EED23FEEAF}"/>
              </a:ext>
            </a:extLst>
          </p:cNvPr>
          <p:cNvSpPr/>
          <p:nvPr/>
        </p:nvSpPr>
        <p:spPr>
          <a:xfrm>
            <a:off x="5596869" y="3322320"/>
            <a:ext cx="714102" cy="724989"/>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0A55BB2-D8A6-70DA-1EFF-B697D97015A6}"/>
              </a:ext>
            </a:extLst>
          </p:cNvPr>
          <p:cNvSpPr txBox="1"/>
          <p:nvPr/>
        </p:nvSpPr>
        <p:spPr>
          <a:xfrm>
            <a:off x="522000" y="961613"/>
            <a:ext cx="3997234" cy="461665"/>
          </a:xfrm>
          <a:prstGeom prst="rect">
            <a:avLst/>
          </a:prstGeom>
          <a:noFill/>
        </p:spPr>
        <p:txBody>
          <a:bodyPr wrap="square" rtlCol="0">
            <a:spAutoFit/>
          </a:bodyPr>
          <a:lstStyle/>
          <a:p>
            <a:pPr marL="76200" indent="0">
              <a:buNone/>
            </a:pPr>
            <a:r>
              <a:rPr lang="ja-JP" altLang="en-US" sz="2400" dirty="0"/>
              <a:t>開発での不安</a:t>
            </a:r>
            <a:endParaRPr lang="en-US" altLang="ja-JP" sz="2400" dirty="0"/>
          </a:p>
        </p:txBody>
      </p:sp>
      <p:sp>
        <p:nvSpPr>
          <p:cNvPr id="7" name="四角形: 角を丸くする 6">
            <a:extLst>
              <a:ext uri="{FF2B5EF4-FFF2-40B4-BE49-F238E27FC236}">
                <a16:creationId xmlns:a16="http://schemas.microsoft.com/office/drawing/2014/main" id="{F09C3C86-ECBD-A070-F858-772A439A95F0}"/>
              </a:ext>
            </a:extLst>
          </p:cNvPr>
          <p:cNvSpPr/>
          <p:nvPr/>
        </p:nvSpPr>
        <p:spPr>
          <a:xfrm>
            <a:off x="927578" y="4513719"/>
            <a:ext cx="10336843" cy="99075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ja-JP" altLang="en-US" sz="2400" b="1" dirty="0"/>
              <a:t>自ら新機能の提案やモデル構築ができるようにな</a:t>
            </a:r>
            <a:r>
              <a:rPr lang="ja-JP" altLang="en-US" sz="2400" b="1" dirty="0"/>
              <a:t>りたい</a:t>
            </a:r>
            <a:endParaRPr kumimoji="1" lang="ja-JP" altLang="en-US" sz="2400" b="1" dirty="0"/>
          </a:p>
        </p:txBody>
      </p:sp>
    </p:spTree>
    <p:extLst>
      <p:ext uri="{BB962C8B-B14F-4D97-AF65-F5344CB8AC3E}">
        <p14:creationId xmlns:p14="http://schemas.microsoft.com/office/powerpoint/2010/main" val="3251749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b="1" dirty="0">
                <a:solidFill>
                  <a:schemeClr val="dk1"/>
                </a:solidFill>
                <a:latin typeface="Arial"/>
                <a:ea typeface="Arial"/>
                <a:cs typeface="Arial"/>
                <a:sym typeface="Arial"/>
              </a:rPr>
              <a:t>動機</a:t>
            </a:r>
            <a:endParaRPr sz="2800" b="1" dirty="0">
              <a:solidFill>
                <a:schemeClr val="dk1"/>
              </a:solidFill>
              <a:latin typeface="Arial"/>
              <a:ea typeface="Arial"/>
              <a:cs typeface="Arial"/>
              <a:sym typeface="Arial"/>
            </a:endParaRPr>
          </a:p>
        </p:txBody>
      </p:sp>
      <p:sp>
        <p:nvSpPr>
          <p:cNvPr id="109" name="Google Shape;109;p2"/>
          <p:cNvSpPr txBox="1"/>
          <p:nvPr/>
        </p:nvSpPr>
        <p:spPr>
          <a:xfrm>
            <a:off x="2773680" y="2721154"/>
            <a:ext cx="6929120" cy="7078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4000" b="1" dirty="0">
                <a:solidFill>
                  <a:schemeClr val="dk1"/>
                </a:solidFill>
                <a:ea typeface="Arial"/>
                <a:cs typeface="Arial"/>
                <a:sym typeface="Arial"/>
              </a:rPr>
              <a:t>物体検知</a:t>
            </a:r>
            <a:r>
              <a:rPr lang="ja-JP" altLang="en-US" sz="4000" dirty="0">
                <a:solidFill>
                  <a:schemeClr val="dk1"/>
                </a:solidFill>
                <a:ea typeface="Arial"/>
                <a:cs typeface="Arial"/>
                <a:sym typeface="Arial"/>
              </a:rPr>
              <a:t>を使ってみよう！！</a:t>
            </a:r>
            <a:endParaRPr sz="4000" dirty="0">
              <a:solidFill>
                <a:schemeClr val="dk1"/>
              </a:solidFill>
              <a:ea typeface="Arial"/>
              <a:cs typeface="Arial"/>
              <a:sym typeface="Arial"/>
            </a:endParaRPr>
          </a:p>
        </p:txBody>
      </p:sp>
    </p:spTree>
    <p:extLst>
      <p:ext uri="{BB962C8B-B14F-4D97-AF65-F5344CB8AC3E}">
        <p14:creationId xmlns:p14="http://schemas.microsoft.com/office/powerpoint/2010/main" val="2336178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AE25F0-63D4-0D5D-D86D-D7D35D9C151C}"/>
              </a:ext>
            </a:extLst>
          </p:cNvPr>
          <p:cNvSpPr>
            <a:spLocks noGrp="1"/>
          </p:cNvSpPr>
          <p:nvPr>
            <p:ph type="title"/>
          </p:nvPr>
        </p:nvSpPr>
        <p:spPr/>
        <p:txBody>
          <a:bodyPr/>
          <a:lstStyle/>
          <a:p>
            <a:r>
              <a:rPr lang="ja-JP" altLang="en-US" dirty="0"/>
              <a:t>動機</a:t>
            </a:r>
            <a:endParaRPr kumimoji="1" lang="ja-JP" altLang="en-US" dirty="0"/>
          </a:p>
        </p:txBody>
      </p:sp>
      <p:sp>
        <p:nvSpPr>
          <p:cNvPr id="3" name="テキスト プレースホルダー 2">
            <a:extLst>
              <a:ext uri="{FF2B5EF4-FFF2-40B4-BE49-F238E27FC236}">
                <a16:creationId xmlns:a16="http://schemas.microsoft.com/office/drawing/2014/main" id="{96E83D00-492E-99AE-C48B-5F67EF0ACD66}"/>
              </a:ext>
            </a:extLst>
          </p:cNvPr>
          <p:cNvSpPr>
            <a:spLocks noGrp="1"/>
          </p:cNvSpPr>
          <p:nvPr>
            <p:ph type="body" idx="1"/>
          </p:nvPr>
        </p:nvSpPr>
        <p:spPr>
          <a:xfrm>
            <a:off x="522000" y="859510"/>
            <a:ext cx="11400035" cy="5680627"/>
          </a:xfrm>
        </p:spPr>
        <p:txBody>
          <a:bodyPr/>
          <a:lstStyle/>
          <a:p>
            <a:pPr marL="76200" indent="0">
              <a:buNone/>
            </a:pPr>
            <a:r>
              <a:rPr lang="en-US" altLang="ja-JP" sz="2400" dirty="0"/>
              <a:t>&lt;</a:t>
            </a:r>
            <a:r>
              <a:rPr lang="ja-JP" altLang="en-US" sz="2400" dirty="0"/>
              <a:t>どうやって知見を深めていくのか</a:t>
            </a:r>
            <a:r>
              <a:rPr lang="en-US" altLang="ja-JP" dirty="0"/>
              <a:t>&gt;</a:t>
            </a:r>
            <a:endParaRPr lang="en-US" altLang="ja-JP" b="1" dirty="0">
              <a:solidFill>
                <a:srgbClr val="FF0000"/>
              </a:solidFill>
            </a:endParaRPr>
          </a:p>
          <a:p>
            <a:pPr marL="76200" indent="0">
              <a:buNone/>
            </a:pPr>
            <a:r>
              <a:rPr lang="ja-JP" altLang="en-US" b="1" dirty="0">
                <a:solidFill>
                  <a:srgbClr val="FF0000"/>
                </a:solidFill>
              </a:rPr>
              <a:t>①まずは物体検知とは何かを手を動かして学ぶ</a:t>
            </a:r>
            <a:endParaRPr lang="en-US" altLang="ja-JP" b="1" dirty="0">
              <a:solidFill>
                <a:srgbClr val="FF0000"/>
              </a:solidFill>
            </a:endParaRPr>
          </a:p>
          <a:p>
            <a:pPr marL="76200" indent="0">
              <a:buNone/>
            </a:pPr>
            <a:r>
              <a:rPr lang="ja-JP" altLang="en-US" dirty="0">
                <a:solidFill>
                  <a:schemeClr val="bg1">
                    <a:lumMod val="65000"/>
                  </a:schemeClr>
                </a:solidFill>
              </a:rPr>
              <a:t>②最終的には</a:t>
            </a:r>
            <a:r>
              <a:rPr kumimoji="1" lang="ja-JP" altLang="en-US" dirty="0">
                <a:solidFill>
                  <a:schemeClr val="bg1">
                    <a:lumMod val="65000"/>
                  </a:schemeClr>
                </a:solidFill>
              </a:rPr>
              <a:t>自分の考えたアイデアに沿うモデルを作成する所から実装してみる</a:t>
            </a:r>
            <a:endParaRPr lang="en-US" altLang="ja-JP" dirty="0">
              <a:solidFill>
                <a:schemeClr val="bg1">
                  <a:lumMod val="65000"/>
                </a:schemeClr>
              </a:solidFill>
            </a:endParaRPr>
          </a:p>
          <a:p>
            <a:pPr marL="76200" indent="0">
              <a:buNone/>
            </a:pPr>
            <a:endParaRPr lang="en-US" altLang="ja-JP" dirty="0"/>
          </a:p>
          <a:p>
            <a:pPr marL="76200" indent="0">
              <a:buNone/>
            </a:pPr>
            <a:r>
              <a:rPr kumimoji="1" lang="en-US" altLang="ja-JP" dirty="0"/>
              <a:t>&lt;</a:t>
            </a:r>
            <a:r>
              <a:rPr kumimoji="1" lang="ja-JP" altLang="en-US" dirty="0"/>
              <a:t>今回やった事</a:t>
            </a:r>
            <a:r>
              <a:rPr kumimoji="1" lang="en-US" altLang="ja-JP" dirty="0"/>
              <a:t>&gt;</a:t>
            </a:r>
          </a:p>
          <a:p>
            <a:pPr marL="76200" indent="0">
              <a:buNone/>
            </a:pPr>
            <a:r>
              <a:rPr lang="ja-JP" altLang="en-US" dirty="0"/>
              <a:t>　　　　　　</a:t>
            </a:r>
            <a:r>
              <a:rPr lang="en-US" altLang="ja-JP" b="1" dirty="0"/>
              <a:t>YOLO</a:t>
            </a:r>
            <a:r>
              <a:rPr lang="ja-JP" altLang="en-US" dirty="0"/>
              <a:t>を使って物体検知を実際にやってみる</a:t>
            </a:r>
            <a:endParaRPr lang="en-US" altLang="ja-JP" dirty="0"/>
          </a:p>
          <a:p>
            <a:pPr marL="76200" indent="0">
              <a:buNone/>
            </a:pPr>
            <a:r>
              <a:rPr lang="en-US" altLang="ja-JP" dirty="0"/>
              <a:t>&lt;</a:t>
            </a:r>
            <a:r>
              <a:rPr kumimoji="1" lang="en-US" altLang="ja-JP" dirty="0"/>
              <a:t>YOLO</a:t>
            </a:r>
            <a:r>
              <a:rPr kumimoji="1" lang="ja-JP" altLang="en-US" dirty="0"/>
              <a:t>を選んだ理由</a:t>
            </a:r>
            <a:r>
              <a:rPr kumimoji="1" lang="en-US" altLang="ja-JP" dirty="0"/>
              <a:t>&gt;</a:t>
            </a:r>
          </a:p>
          <a:p>
            <a:pPr marL="76200" indent="0">
              <a:buNone/>
            </a:pPr>
            <a:r>
              <a:rPr kumimoji="1" lang="ja-JP" altLang="en-US" dirty="0"/>
              <a:t>　　①</a:t>
            </a:r>
            <a:r>
              <a:rPr lang="ja-JP" altLang="en-US" sz="2400" dirty="0"/>
              <a:t>自作のモデルと組み合わせられる</a:t>
            </a:r>
            <a:endParaRPr kumimoji="1" lang="en-US" altLang="ja-JP" dirty="0"/>
          </a:p>
          <a:p>
            <a:pPr marL="76200" indent="0">
              <a:buNone/>
            </a:pPr>
            <a:r>
              <a:rPr lang="ja-JP" altLang="en-US" dirty="0"/>
              <a:t>　　②学習済モデルが幅広く提供されている</a:t>
            </a:r>
            <a:endParaRPr lang="en-US" altLang="ja-JP" dirty="0"/>
          </a:p>
          <a:p>
            <a:pPr marL="76200" indent="0">
              <a:buNone/>
            </a:pPr>
            <a:r>
              <a:rPr kumimoji="1" lang="ja-JP" altLang="en-US" dirty="0"/>
              <a:t>　　③</a:t>
            </a:r>
            <a:r>
              <a:rPr kumimoji="1" lang="en-US" altLang="ja-JP" dirty="0"/>
              <a:t>GPU</a:t>
            </a:r>
            <a:r>
              <a:rPr kumimoji="1" lang="ja-JP" altLang="en-US" dirty="0"/>
              <a:t>がなくても動作させることができる</a:t>
            </a:r>
          </a:p>
          <a:p>
            <a:pPr marL="76200" indent="0">
              <a:buNone/>
            </a:pPr>
            <a:endParaRPr kumimoji="1" lang="en-US" altLang="ja-JP" dirty="0"/>
          </a:p>
          <a:p>
            <a:pPr marL="76200" indent="0">
              <a:buNone/>
            </a:pPr>
            <a:r>
              <a:rPr lang="ja-JP" altLang="en-US" dirty="0"/>
              <a:t>　</a:t>
            </a:r>
            <a:endParaRPr kumimoji="1" lang="ja-JP" altLang="en-US" dirty="0"/>
          </a:p>
        </p:txBody>
      </p:sp>
      <p:sp>
        <p:nvSpPr>
          <p:cNvPr id="6" name="矢印: 下 5">
            <a:extLst>
              <a:ext uri="{FF2B5EF4-FFF2-40B4-BE49-F238E27FC236}">
                <a16:creationId xmlns:a16="http://schemas.microsoft.com/office/drawing/2014/main" id="{C3EAECAD-2954-042D-602A-7BA07436E100}"/>
              </a:ext>
            </a:extLst>
          </p:cNvPr>
          <p:cNvSpPr/>
          <p:nvPr/>
        </p:nvSpPr>
        <p:spPr>
          <a:xfrm>
            <a:off x="5596868" y="2694516"/>
            <a:ext cx="470263" cy="581359"/>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B1A1F6D1-954C-4286-E75C-8417DEFDD8D3}"/>
              </a:ext>
            </a:extLst>
          </p:cNvPr>
          <p:cNvPicPr>
            <a:picLocks noChangeAspect="1"/>
          </p:cNvPicPr>
          <p:nvPr/>
        </p:nvPicPr>
        <p:blipFill>
          <a:blip r:embed="rId2"/>
          <a:stretch>
            <a:fillRect/>
          </a:stretch>
        </p:blipFill>
        <p:spPr>
          <a:xfrm>
            <a:off x="9469870" y="4265023"/>
            <a:ext cx="2200130" cy="2213174"/>
          </a:xfrm>
          <a:prstGeom prst="rect">
            <a:avLst/>
          </a:prstGeom>
        </p:spPr>
      </p:pic>
    </p:spTree>
    <p:extLst>
      <p:ext uri="{BB962C8B-B14F-4D97-AF65-F5344CB8AC3E}">
        <p14:creationId xmlns:p14="http://schemas.microsoft.com/office/powerpoint/2010/main" val="3011393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ja-JP" sz="2800" b="1" dirty="0">
                <a:solidFill>
                  <a:schemeClr val="dk1"/>
                </a:solidFill>
                <a:latin typeface="+mn-ea"/>
                <a:cs typeface="Arial"/>
                <a:sym typeface="Arial"/>
              </a:rPr>
              <a:t>YOLO</a:t>
            </a:r>
            <a:r>
              <a:rPr lang="ja-JP" altLang="en-US" sz="2800" b="1" dirty="0">
                <a:solidFill>
                  <a:schemeClr val="dk1"/>
                </a:solidFill>
                <a:latin typeface="+mn-ea"/>
                <a:cs typeface="Arial"/>
                <a:sym typeface="Arial"/>
              </a:rPr>
              <a:t>について</a:t>
            </a:r>
            <a:endParaRPr sz="2800" b="1" dirty="0">
              <a:solidFill>
                <a:schemeClr val="dk1"/>
              </a:solidFill>
              <a:latin typeface="+mn-ea"/>
              <a:cs typeface="Arial"/>
              <a:sym typeface="Arial"/>
            </a:endParaRPr>
          </a:p>
        </p:txBody>
      </p:sp>
      <p:sp>
        <p:nvSpPr>
          <p:cNvPr id="39" name="AutoShape 2" descr="イラストや pc に対する画像結果">
            <a:extLst>
              <a:ext uri="{FF2B5EF4-FFF2-40B4-BE49-F238E27FC236}">
                <a16:creationId xmlns:a16="http://schemas.microsoft.com/office/drawing/2014/main" id="{9AEBC004-CF67-762D-0C4E-2C8B9F84A252}"/>
              </a:ext>
            </a:extLst>
          </p:cNvPr>
          <p:cNvSpPr>
            <a:spLocks noChangeAspect="1" noChangeArrowheads="1"/>
          </p:cNvSpPr>
          <p:nvPr/>
        </p:nvSpPr>
        <p:spPr bwMode="auto">
          <a:xfrm>
            <a:off x="5943599" y="3276599"/>
            <a:ext cx="1535461" cy="15354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2" name="テキスト ボックス 1">
            <a:extLst>
              <a:ext uri="{FF2B5EF4-FFF2-40B4-BE49-F238E27FC236}">
                <a16:creationId xmlns:a16="http://schemas.microsoft.com/office/drawing/2014/main" id="{CD2371AE-0B71-F27C-5871-CAA4BAD2018E}"/>
              </a:ext>
            </a:extLst>
          </p:cNvPr>
          <p:cNvSpPr txBox="1"/>
          <p:nvPr/>
        </p:nvSpPr>
        <p:spPr>
          <a:xfrm>
            <a:off x="1744617" y="1734294"/>
            <a:ext cx="8702766" cy="830997"/>
          </a:xfrm>
          <a:prstGeom prst="rect">
            <a:avLst/>
          </a:prstGeom>
          <a:noFill/>
        </p:spPr>
        <p:txBody>
          <a:bodyPr wrap="square" rtlCol="0">
            <a:spAutoFit/>
          </a:bodyPr>
          <a:lstStyle/>
          <a:p>
            <a:r>
              <a:rPr kumimoji="1" lang="en-US" altLang="ja-JP" sz="2400" dirty="0">
                <a:latin typeface="+mn-ea"/>
              </a:rPr>
              <a:t>YOLO</a:t>
            </a:r>
            <a:r>
              <a:rPr kumimoji="1" lang="ja-JP" altLang="en-US" sz="2400" dirty="0">
                <a:latin typeface="+mn-ea"/>
              </a:rPr>
              <a:t>・・・</a:t>
            </a:r>
            <a:r>
              <a:rPr kumimoji="1" lang="en-US" altLang="ja-JP" sz="2400" dirty="0">
                <a:solidFill>
                  <a:srgbClr val="FF0000"/>
                </a:solidFill>
                <a:latin typeface="+mn-ea"/>
              </a:rPr>
              <a:t>You Only Look Once(</a:t>
            </a:r>
            <a:r>
              <a:rPr kumimoji="1" lang="ja-JP" altLang="en-US" sz="2400" dirty="0">
                <a:solidFill>
                  <a:srgbClr val="FF0000"/>
                </a:solidFill>
                <a:latin typeface="+mn-ea"/>
              </a:rPr>
              <a:t>一度見るだけでいい</a:t>
            </a:r>
            <a:r>
              <a:rPr kumimoji="1" lang="en-US" altLang="ja-JP" sz="2400" dirty="0">
                <a:solidFill>
                  <a:srgbClr val="FF0000"/>
                </a:solidFill>
                <a:latin typeface="+mn-ea"/>
              </a:rPr>
              <a:t>)</a:t>
            </a:r>
          </a:p>
          <a:p>
            <a:r>
              <a:rPr lang="ja-JP" altLang="en-US" sz="2400" dirty="0">
                <a:latin typeface="+mn-ea"/>
              </a:rPr>
              <a:t>　　　　  </a:t>
            </a:r>
            <a:r>
              <a:rPr lang="en-US" altLang="ja-JP" sz="2400" dirty="0">
                <a:latin typeface="+mn-ea"/>
              </a:rPr>
              <a:t>	</a:t>
            </a:r>
            <a:r>
              <a:rPr lang="ja-JP" altLang="en-US" sz="2400" dirty="0">
                <a:latin typeface="+mn-ea"/>
              </a:rPr>
              <a:t>物体検出モデル</a:t>
            </a:r>
            <a:endParaRPr lang="en-US" altLang="ja-JP" sz="2400" dirty="0">
              <a:latin typeface="+mn-ea"/>
            </a:endParaRPr>
          </a:p>
        </p:txBody>
      </p:sp>
      <p:sp>
        <p:nvSpPr>
          <p:cNvPr id="3" name="テキスト ボックス 2">
            <a:extLst>
              <a:ext uri="{FF2B5EF4-FFF2-40B4-BE49-F238E27FC236}">
                <a16:creationId xmlns:a16="http://schemas.microsoft.com/office/drawing/2014/main" id="{0B680642-750E-C030-D325-48033A268ADA}"/>
              </a:ext>
            </a:extLst>
          </p:cNvPr>
          <p:cNvSpPr txBox="1"/>
          <p:nvPr/>
        </p:nvSpPr>
        <p:spPr>
          <a:xfrm>
            <a:off x="1023906" y="3122620"/>
            <a:ext cx="11374846" cy="2677656"/>
          </a:xfrm>
          <a:prstGeom prst="rect">
            <a:avLst/>
          </a:prstGeom>
          <a:noFill/>
        </p:spPr>
        <p:txBody>
          <a:bodyPr wrap="square" rtlCol="0">
            <a:spAutoFit/>
          </a:bodyPr>
          <a:lstStyle/>
          <a:p>
            <a:r>
              <a:rPr kumimoji="1" lang="ja-JP" altLang="en-US" sz="2400" dirty="0">
                <a:latin typeface="+mn-ea"/>
              </a:rPr>
              <a:t>特性</a:t>
            </a:r>
            <a:endParaRPr kumimoji="1" lang="en-US" altLang="ja-JP" sz="2400" dirty="0">
              <a:latin typeface="+mn-ea"/>
            </a:endParaRPr>
          </a:p>
          <a:p>
            <a:endParaRPr kumimoji="1" lang="en-US" altLang="ja-JP" sz="2400" dirty="0">
              <a:latin typeface="+mn-ea"/>
            </a:endParaRPr>
          </a:p>
          <a:p>
            <a:r>
              <a:rPr kumimoji="1" lang="ja-JP" altLang="en-US" sz="2400" dirty="0">
                <a:latin typeface="+mn-ea"/>
              </a:rPr>
              <a:t>・処理速度が速い（実際に案件で使う場合は動画から即座に異常と判断したい）</a:t>
            </a:r>
            <a:endParaRPr kumimoji="1" lang="en-US" altLang="ja-JP" sz="2400" dirty="0">
              <a:latin typeface="+mn-ea"/>
            </a:endParaRPr>
          </a:p>
          <a:p>
            <a:endParaRPr lang="en-US" altLang="ja-JP" sz="2400" dirty="0">
              <a:latin typeface="+mn-ea"/>
            </a:endParaRPr>
          </a:p>
          <a:p>
            <a:r>
              <a:rPr kumimoji="1" lang="ja-JP" altLang="en-US" sz="2400" dirty="0">
                <a:latin typeface="+mn-ea"/>
              </a:rPr>
              <a:t>・モデルを準備しなくてもいい（</a:t>
            </a:r>
            <a:r>
              <a:rPr kumimoji="1" lang="en-US" altLang="ja-JP" sz="2400" dirty="0" err="1">
                <a:latin typeface="+mn-ea"/>
              </a:rPr>
              <a:t>ultralytics</a:t>
            </a:r>
            <a:r>
              <a:rPr kumimoji="1" lang="ja-JP" altLang="en-US" sz="2400" dirty="0">
                <a:latin typeface="+mn-ea"/>
              </a:rPr>
              <a:t>会社がモデルを提供）</a:t>
            </a:r>
            <a:endParaRPr kumimoji="1" lang="en-US" altLang="ja-JP" sz="2400" dirty="0">
              <a:latin typeface="+mn-ea"/>
            </a:endParaRPr>
          </a:p>
          <a:p>
            <a:endParaRPr lang="en-US" altLang="ja-JP" sz="2400" dirty="0">
              <a:latin typeface="+mn-ea"/>
            </a:endParaRPr>
          </a:p>
          <a:p>
            <a:endParaRPr kumimoji="1" lang="ja-JP" altLang="en-US" sz="2400" b="1" dirty="0">
              <a:latin typeface="+mn-ea"/>
            </a:endParaRPr>
          </a:p>
        </p:txBody>
      </p:sp>
    </p:spTree>
    <p:extLst>
      <p:ext uri="{BB962C8B-B14F-4D97-AF65-F5344CB8AC3E}">
        <p14:creationId xmlns:p14="http://schemas.microsoft.com/office/powerpoint/2010/main" val="4108215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mn-ea"/>
                <a:cs typeface="Arial"/>
                <a:sym typeface="Arial"/>
              </a:rPr>
              <a:t>実際に使ってみよう！</a:t>
            </a:r>
            <a:endParaRPr lang="en-US" sz="2800" dirty="0">
              <a:solidFill>
                <a:schemeClr val="dk1"/>
              </a:solidFill>
              <a:latin typeface="+mn-ea"/>
              <a:cs typeface="Arial"/>
              <a:sym typeface="Arial"/>
            </a:endParaRPr>
          </a:p>
        </p:txBody>
      </p:sp>
      <p:sp>
        <p:nvSpPr>
          <p:cNvPr id="39" name="AutoShape 2" descr="イラストや pc に対する画像結果">
            <a:extLst>
              <a:ext uri="{FF2B5EF4-FFF2-40B4-BE49-F238E27FC236}">
                <a16:creationId xmlns:a16="http://schemas.microsoft.com/office/drawing/2014/main" id="{9AEBC004-CF67-762D-0C4E-2C8B9F84A252}"/>
              </a:ext>
            </a:extLst>
          </p:cNvPr>
          <p:cNvSpPr>
            <a:spLocks noChangeAspect="1" noChangeArrowheads="1"/>
          </p:cNvSpPr>
          <p:nvPr/>
        </p:nvSpPr>
        <p:spPr bwMode="auto">
          <a:xfrm>
            <a:off x="5943599" y="3276599"/>
            <a:ext cx="1535461" cy="15354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2" name="Google Shape;108;p2">
            <a:extLst>
              <a:ext uri="{FF2B5EF4-FFF2-40B4-BE49-F238E27FC236}">
                <a16:creationId xmlns:a16="http://schemas.microsoft.com/office/drawing/2014/main" id="{0FABE892-5EEA-93DC-A402-C0F799818639}"/>
              </a:ext>
            </a:extLst>
          </p:cNvPr>
          <p:cNvSpPr txBox="1"/>
          <p:nvPr/>
        </p:nvSpPr>
        <p:spPr>
          <a:xfrm>
            <a:off x="2969623" y="4304249"/>
            <a:ext cx="6527725" cy="10156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000" dirty="0">
                <a:solidFill>
                  <a:schemeClr val="dk1"/>
                </a:solidFill>
                <a:latin typeface="+mn-ea"/>
                <a:cs typeface="Arial"/>
                <a:sym typeface="Arial"/>
              </a:rPr>
              <a:t>環境：</a:t>
            </a:r>
            <a:r>
              <a:rPr lang="en-US" altLang="ja-JP" sz="2000" dirty="0" err="1">
                <a:solidFill>
                  <a:schemeClr val="dk1"/>
                </a:solidFill>
                <a:latin typeface="+mn-ea"/>
                <a:cs typeface="Arial"/>
                <a:sym typeface="Arial"/>
              </a:rPr>
              <a:t>GoogleColab</a:t>
            </a:r>
            <a:r>
              <a:rPr lang="en-US" altLang="ja-JP" sz="2000" dirty="0">
                <a:solidFill>
                  <a:schemeClr val="dk1"/>
                </a:solidFill>
                <a:latin typeface="+mn-ea"/>
                <a:cs typeface="Arial"/>
                <a:sym typeface="Arial"/>
              </a:rPr>
              <a:t>(</a:t>
            </a:r>
            <a:r>
              <a:rPr lang="en-US" altLang="ja-JP" sz="2000" dirty="0" err="1">
                <a:solidFill>
                  <a:schemeClr val="dk1"/>
                </a:solidFill>
                <a:latin typeface="+mn-ea"/>
                <a:cs typeface="Arial"/>
                <a:sym typeface="Arial"/>
              </a:rPr>
              <a:t>JupyterNotebook</a:t>
            </a:r>
            <a:r>
              <a:rPr lang="en-US" altLang="ja-JP" sz="2000" dirty="0">
                <a:solidFill>
                  <a:schemeClr val="dk1"/>
                </a:solidFill>
                <a:latin typeface="+mn-ea"/>
                <a:cs typeface="Arial"/>
                <a:sym typeface="Arial"/>
              </a:rPr>
              <a:t>)</a:t>
            </a:r>
          </a:p>
          <a:p>
            <a:pPr marL="0" marR="0" lvl="0" indent="0" algn="l" rtl="0">
              <a:spcBef>
                <a:spcPts val="0"/>
              </a:spcBef>
              <a:spcAft>
                <a:spcPts val="0"/>
              </a:spcAft>
              <a:buNone/>
            </a:pPr>
            <a:r>
              <a:rPr lang="ja-JP" altLang="en-US" sz="2000" dirty="0">
                <a:solidFill>
                  <a:schemeClr val="dk1"/>
                </a:solidFill>
                <a:latin typeface="+mn-ea"/>
                <a:cs typeface="Arial"/>
                <a:sym typeface="Arial"/>
              </a:rPr>
              <a:t>使うバージョン：</a:t>
            </a:r>
            <a:r>
              <a:rPr lang="en-US" altLang="ja-JP" sz="2000" dirty="0">
                <a:solidFill>
                  <a:schemeClr val="dk1"/>
                </a:solidFill>
                <a:latin typeface="+mn-ea"/>
                <a:cs typeface="Arial"/>
                <a:sym typeface="Arial"/>
              </a:rPr>
              <a:t>YOLO26</a:t>
            </a:r>
            <a:r>
              <a:rPr lang="ja-JP" altLang="en-US" sz="2000" dirty="0">
                <a:solidFill>
                  <a:schemeClr val="dk1"/>
                </a:solidFill>
                <a:latin typeface="+mn-ea"/>
                <a:cs typeface="Arial"/>
                <a:sym typeface="Arial"/>
              </a:rPr>
              <a:t>、</a:t>
            </a:r>
            <a:r>
              <a:rPr lang="en-US" altLang="ja-JP" sz="2000" dirty="0">
                <a:solidFill>
                  <a:schemeClr val="dk1"/>
                </a:solidFill>
                <a:latin typeface="+mn-ea"/>
                <a:cs typeface="Arial"/>
                <a:sym typeface="Arial"/>
              </a:rPr>
              <a:t>Python3.12 </a:t>
            </a:r>
          </a:p>
          <a:p>
            <a:pPr marL="0" marR="0" lvl="0" indent="0" algn="l" rtl="0">
              <a:spcBef>
                <a:spcPts val="0"/>
              </a:spcBef>
              <a:spcAft>
                <a:spcPts val="0"/>
              </a:spcAft>
              <a:buNone/>
            </a:pPr>
            <a:endParaRPr sz="2000" dirty="0">
              <a:solidFill>
                <a:schemeClr val="dk1"/>
              </a:solidFill>
              <a:latin typeface="+mn-ea"/>
              <a:cs typeface="Arial"/>
              <a:sym typeface="Arial"/>
            </a:endParaRPr>
          </a:p>
        </p:txBody>
      </p:sp>
      <p:sp>
        <p:nvSpPr>
          <p:cNvPr id="3" name="Google Shape;108;p2">
            <a:extLst>
              <a:ext uri="{FF2B5EF4-FFF2-40B4-BE49-F238E27FC236}">
                <a16:creationId xmlns:a16="http://schemas.microsoft.com/office/drawing/2014/main" id="{4BEA9D8D-60A9-D07E-05A5-DE9FCFF48530}"/>
              </a:ext>
            </a:extLst>
          </p:cNvPr>
          <p:cNvSpPr txBox="1"/>
          <p:nvPr/>
        </p:nvSpPr>
        <p:spPr>
          <a:xfrm>
            <a:off x="2187269" y="2690974"/>
            <a:ext cx="8402238"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4800" dirty="0">
                <a:solidFill>
                  <a:schemeClr val="dk1"/>
                </a:solidFill>
                <a:latin typeface="+mn-ea"/>
                <a:cs typeface="Arial"/>
                <a:sym typeface="Arial"/>
              </a:rPr>
              <a:t>実際に動かしてみよう！！</a:t>
            </a:r>
            <a:endParaRPr sz="4800" dirty="0">
              <a:solidFill>
                <a:schemeClr val="dk1"/>
              </a:solidFill>
              <a:latin typeface="+mn-ea"/>
              <a:cs typeface="Arial"/>
              <a:sym typeface="Arial"/>
            </a:endParaRPr>
          </a:p>
        </p:txBody>
      </p:sp>
    </p:spTree>
    <p:extLst>
      <p:ext uri="{BB962C8B-B14F-4D97-AF65-F5344CB8AC3E}">
        <p14:creationId xmlns:p14="http://schemas.microsoft.com/office/powerpoint/2010/main" val="2909697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mn-ea"/>
                <a:cs typeface="Arial"/>
                <a:sym typeface="Arial"/>
              </a:rPr>
              <a:t>所感・課題</a:t>
            </a:r>
            <a:endParaRPr lang="en-US" sz="2800" dirty="0">
              <a:solidFill>
                <a:schemeClr val="dk1"/>
              </a:solidFill>
              <a:latin typeface="+mn-ea"/>
              <a:cs typeface="Arial"/>
              <a:sym typeface="Arial"/>
            </a:endParaRPr>
          </a:p>
        </p:txBody>
      </p:sp>
      <p:sp>
        <p:nvSpPr>
          <p:cNvPr id="39" name="AutoShape 2" descr="イラストや pc に対する画像結果">
            <a:extLst>
              <a:ext uri="{FF2B5EF4-FFF2-40B4-BE49-F238E27FC236}">
                <a16:creationId xmlns:a16="http://schemas.microsoft.com/office/drawing/2014/main" id="{9AEBC004-CF67-762D-0C4E-2C8B9F84A252}"/>
              </a:ext>
            </a:extLst>
          </p:cNvPr>
          <p:cNvSpPr>
            <a:spLocks noChangeAspect="1" noChangeArrowheads="1"/>
          </p:cNvSpPr>
          <p:nvPr/>
        </p:nvSpPr>
        <p:spPr bwMode="auto">
          <a:xfrm>
            <a:off x="5943599" y="3276599"/>
            <a:ext cx="1535461" cy="15354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3" name="Google Shape;108;p2">
            <a:extLst>
              <a:ext uri="{FF2B5EF4-FFF2-40B4-BE49-F238E27FC236}">
                <a16:creationId xmlns:a16="http://schemas.microsoft.com/office/drawing/2014/main" id="{4BEA9D8D-60A9-D07E-05A5-DE9FCFF48530}"/>
              </a:ext>
            </a:extLst>
          </p:cNvPr>
          <p:cNvSpPr txBox="1"/>
          <p:nvPr/>
        </p:nvSpPr>
        <p:spPr>
          <a:xfrm>
            <a:off x="679921" y="1528488"/>
            <a:ext cx="10127415" cy="26776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400" dirty="0">
                <a:solidFill>
                  <a:schemeClr val="dk1"/>
                </a:solidFill>
                <a:latin typeface="+mn-ea"/>
                <a:cs typeface="Arial"/>
                <a:sym typeface="Arial"/>
              </a:rPr>
              <a:t>・難しいイメージがあったが、初心者でも実装できる</a:t>
            </a:r>
            <a:endParaRPr lang="en-US" altLang="ja-JP" sz="2400" dirty="0">
              <a:solidFill>
                <a:schemeClr val="dk1"/>
              </a:solidFill>
              <a:latin typeface="+mn-ea"/>
              <a:cs typeface="Arial"/>
              <a:sym typeface="Arial"/>
            </a:endParaRPr>
          </a:p>
          <a:p>
            <a:pPr marL="0" marR="0" lvl="0" indent="0" algn="l" rtl="0">
              <a:spcBef>
                <a:spcPts val="0"/>
              </a:spcBef>
              <a:spcAft>
                <a:spcPts val="0"/>
              </a:spcAft>
              <a:buNone/>
            </a:pPr>
            <a:endParaRPr lang="en-US" sz="2400" dirty="0">
              <a:solidFill>
                <a:schemeClr val="dk1"/>
              </a:solidFill>
              <a:latin typeface="+mn-ea"/>
              <a:cs typeface="Arial"/>
              <a:sym typeface="Arial"/>
            </a:endParaRPr>
          </a:p>
          <a:p>
            <a:pPr marL="0" marR="0" lvl="0" indent="0" algn="l" rtl="0">
              <a:spcBef>
                <a:spcPts val="0"/>
              </a:spcBef>
              <a:spcAft>
                <a:spcPts val="0"/>
              </a:spcAft>
              <a:buNone/>
            </a:pPr>
            <a:r>
              <a:rPr lang="ja-JP" altLang="en-US" sz="2400" dirty="0">
                <a:solidFill>
                  <a:schemeClr val="dk1"/>
                </a:solidFill>
                <a:latin typeface="+mn-ea"/>
                <a:cs typeface="Arial"/>
                <a:sym typeface="Arial"/>
              </a:rPr>
              <a:t>・物体を検知するだけでなく、</a:t>
            </a:r>
            <a:endParaRPr lang="en-US" altLang="ja-JP" sz="2400" dirty="0">
              <a:solidFill>
                <a:schemeClr val="dk1"/>
              </a:solidFill>
              <a:latin typeface="+mn-ea"/>
              <a:cs typeface="Arial"/>
              <a:sym typeface="Arial"/>
            </a:endParaRPr>
          </a:p>
          <a:p>
            <a:pPr marL="0" marR="0" lvl="0" indent="0" algn="l" rtl="0">
              <a:spcBef>
                <a:spcPts val="0"/>
              </a:spcBef>
              <a:spcAft>
                <a:spcPts val="0"/>
              </a:spcAft>
              <a:buNone/>
            </a:pPr>
            <a:r>
              <a:rPr lang="ja-JP" altLang="en-US" sz="2400" dirty="0">
                <a:solidFill>
                  <a:schemeClr val="dk1"/>
                </a:solidFill>
                <a:latin typeface="+mn-ea"/>
                <a:cs typeface="Arial"/>
                <a:sym typeface="Arial"/>
              </a:rPr>
              <a:t>　物体の位置（動画内のピクセル）の時系列データを取得できる</a:t>
            </a:r>
            <a:endParaRPr lang="en-US" altLang="ja-JP" sz="2400" dirty="0">
              <a:solidFill>
                <a:schemeClr val="dk1"/>
              </a:solidFill>
              <a:latin typeface="+mn-ea"/>
              <a:cs typeface="Arial"/>
              <a:sym typeface="Arial"/>
            </a:endParaRPr>
          </a:p>
          <a:p>
            <a:pPr marL="0" marR="0" lvl="0" indent="0" algn="l" rtl="0">
              <a:spcBef>
                <a:spcPts val="0"/>
              </a:spcBef>
              <a:spcAft>
                <a:spcPts val="0"/>
              </a:spcAft>
              <a:buNone/>
            </a:pPr>
            <a:endParaRPr lang="en-US" sz="2400" dirty="0">
              <a:solidFill>
                <a:schemeClr val="dk1"/>
              </a:solidFill>
              <a:latin typeface="+mn-ea"/>
              <a:cs typeface="Arial"/>
              <a:sym typeface="Arial"/>
            </a:endParaRPr>
          </a:p>
          <a:p>
            <a:pPr marL="0" marR="0" lvl="0" indent="0" algn="l" rtl="0">
              <a:spcBef>
                <a:spcPts val="0"/>
              </a:spcBef>
              <a:spcAft>
                <a:spcPts val="0"/>
              </a:spcAft>
              <a:buNone/>
            </a:pPr>
            <a:r>
              <a:rPr lang="ja-JP" altLang="en-US" sz="2400" dirty="0">
                <a:solidFill>
                  <a:schemeClr val="dk1"/>
                </a:solidFill>
                <a:latin typeface="+mn-ea"/>
                <a:cs typeface="Arial"/>
                <a:sym typeface="Arial"/>
              </a:rPr>
              <a:t>・</a:t>
            </a:r>
            <a:r>
              <a:rPr lang="en-US" altLang="ja-JP" sz="2400" dirty="0">
                <a:solidFill>
                  <a:schemeClr val="dk1"/>
                </a:solidFill>
                <a:latin typeface="+mn-ea"/>
                <a:cs typeface="Arial"/>
                <a:sym typeface="Arial"/>
              </a:rPr>
              <a:t>GPU</a:t>
            </a:r>
            <a:r>
              <a:rPr lang="ja-JP" altLang="en-US" sz="2400" dirty="0">
                <a:solidFill>
                  <a:schemeClr val="dk1"/>
                </a:solidFill>
                <a:latin typeface="+mn-ea"/>
                <a:cs typeface="Arial"/>
                <a:sym typeface="Arial"/>
              </a:rPr>
              <a:t>を使わなくて済むが、</a:t>
            </a:r>
            <a:endParaRPr lang="en-US" altLang="ja-JP" sz="2400" dirty="0">
              <a:solidFill>
                <a:schemeClr val="dk1"/>
              </a:solidFill>
              <a:latin typeface="+mn-ea"/>
              <a:cs typeface="Arial"/>
              <a:sym typeface="Arial"/>
            </a:endParaRPr>
          </a:p>
          <a:p>
            <a:pPr marL="0" marR="0" lvl="0" indent="0" algn="l" rtl="0">
              <a:spcBef>
                <a:spcPts val="0"/>
              </a:spcBef>
              <a:spcAft>
                <a:spcPts val="0"/>
              </a:spcAft>
              <a:buNone/>
            </a:pPr>
            <a:r>
              <a:rPr lang="ja-JP" altLang="en-US" sz="2400" dirty="0">
                <a:solidFill>
                  <a:schemeClr val="dk1"/>
                </a:solidFill>
                <a:latin typeface="+mn-ea"/>
                <a:cs typeface="Arial"/>
                <a:sym typeface="Arial"/>
              </a:rPr>
              <a:t>　</a:t>
            </a:r>
            <a:r>
              <a:rPr lang="en-US" altLang="ja-JP" sz="2400" dirty="0">
                <a:solidFill>
                  <a:schemeClr val="dk1"/>
                </a:solidFill>
                <a:latin typeface="+mn-ea"/>
                <a:cs typeface="Arial"/>
                <a:sym typeface="Arial"/>
              </a:rPr>
              <a:t>YOLO</a:t>
            </a:r>
            <a:r>
              <a:rPr lang="ja-JP" altLang="en-US" sz="2400" dirty="0">
                <a:solidFill>
                  <a:schemeClr val="dk1"/>
                </a:solidFill>
                <a:latin typeface="+mn-ea"/>
                <a:cs typeface="Arial"/>
                <a:sym typeface="Arial"/>
              </a:rPr>
              <a:t>のなかで最軽量のモデルしか使えなかった</a:t>
            </a:r>
            <a:endParaRPr lang="en-US" sz="2400" dirty="0">
              <a:solidFill>
                <a:schemeClr val="dk1"/>
              </a:solidFill>
              <a:latin typeface="+mn-ea"/>
              <a:cs typeface="Arial"/>
              <a:sym typeface="Arial"/>
            </a:endParaRPr>
          </a:p>
        </p:txBody>
      </p:sp>
    </p:spTree>
    <p:extLst>
      <p:ext uri="{BB962C8B-B14F-4D97-AF65-F5344CB8AC3E}">
        <p14:creationId xmlns:p14="http://schemas.microsoft.com/office/powerpoint/2010/main" val="3984810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mn-ea"/>
                <a:cs typeface="Arial"/>
                <a:sym typeface="Arial"/>
              </a:rPr>
              <a:t>今後</a:t>
            </a:r>
            <a:endParaRPr sz="2800" dirty="0">
              <a:solidFill>
                <a:schemeClr val="dk1"/>
              </a:solidFill>
              <a:latin typeface="+mn-ea"/>
              <a:cs typeface="Arial"/>
              <a:sym typeface="Arial"/>
            </a:endParaRPr>
          </a:p>
        </p:txBody>
      </p:sp>
      <p:sp>
        <p:nvSpPr>
          <p:cNvPr id="39" name="AutoShape 2" descr="イラストや pc に対する画像結果">
            <a:extLst>
              <a:ext uri="{FF2B5EF4-FFF2-40B4-BE49-F238E27FC236}">
                <a16:creationId xmlns:a16="http://schemas.microsoft.com/office/drawing/2014/main" id="{9AEBC004-CF67-762D-0C4E-2C8B9F84A252}"/>
              </a:ext>
            </a:extLst>
          </p:cNvPr>
          <p:cNvSpPr>
            <a:spLocks noChangeAspect="1" noChangeArrowheads="1"/>
          </p:cNvSpPr>
          <p:nvPr/>
        </p:nvSpPr>
        <p:spPr bwMode="auto">
          <a:xfrm>
            <a:off x="5943599" y="3276599"/>
            <a:ext cx="1535461" cy="15354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4" name="図 3">
            <a:extLst>
              <a:ext uri="{FF2B5EF4-FFF2-40B4-BE49-F238E27FC236}">
                <a16:creationId xmlns:a16="http://schemas.microsoft.com/office/drawing/2014/main" id="{D3C0D1A3-344C-77BB-F8C8-7D2C5A4A94EA}"/>
              </a:ext>
            </a:extLst>
          </p:cNvPr>
          <p:cNvPicPr>
            <a:picLocks noChangeAspect="1"/>
          </p:cNvPicPr>
          <p:nvPr/>
        </p:nvPicPr>
        <p:blipFill>
          <a:blip r:embed="rId3"/>
          <a:stretch>
            <a:fillRect/>
          </a:stretch>
        </p:blipFill>
        <p:spPr>
          <a:xfrm>
            <a:off x="9063203" y="882938"/>
            <a:ext cx="2936405" cy="1537319"/>
          </a:xfrm>
          <a:prstGeom prst="rect">
            <a:avLst/>
          </a:prstGeom>
        </p:spPr>
      </p:pic>
      <p:sp>
        <p:nvSpPr>
          <p:cNvPr id="5" name="Google Shape;108;p2">
            <a:extLst>
              <a:ext uri="{FF2B5EF4-FFF2-40B4-BE49-F238E27FC236}">
                <a16:creationId xmlns:a16="http://schemas.microsoft.com/office/drawing/2014/main" id="{95EAEC1C-7E35-BF7D-1CC6-02517CDC80CB}"/>
              </a:ext>
            </a:extLst>
          </p:cNvPr>
          <p:cNvSpPr txBox="1"/>
          <p:nvPr/>
        </p:nvSpPr>
        <p:spPr>
          <a:xfrm>
            <a:off x="647215" y="1059069"/>
            <a:ext cx="8174568"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400" dirty="0">
                <a:solidFill>
                  <a:schemeClr val="dk1"/>
                </a:solidFill>
                <a:latin typeface="+mn-ea"/>
                <a:cs typeface="Arial"/>
                <a:sym typeface="Arial"/>
              </a:rPr>
              <a:t>アップロードされた動画から、特定のエリアに人物が侵入したことを自動で検知するシステムを構築する。</a:t>
            </a:r>
            <a:endParaRPr sz="2400" dirty="0">
              <a:solidFill>
                <a:schemeClr val="dk1"/>
              </a:solidFill>
              <a:latin typeface="+mn-ea"/>
              <a:cs typeface="Arial"/>
              <a:sym typeface="Arial"/>
            </a:endParaRPr>
          </a:p>
        </p:txBody>
      </p:sp>
      <p:sp>
        <p:nvSpPr>
          <p:cNvPr id="3" name="AutoShape 2" descr="イラストや pc に対する画像結果">
            <a:extLst>
              <a:ext uri="{FF2B5EF4-FFF2-40B4-BE49-F238E27FC236}">
                <a16:creationId xmlns:a16="http://schemas.microsoft.com/office/drawing/2014/main" id="{98030332-500E-C5D7-3AEF-DEB01ABCAF71}"/>
              </a:ext>
            </a:extLst>
          </p:cNvPr>
          <p:cNvSpPr>
            <a:spLocks noChangeAspect="1" noChangeArrowheads="1"/>
          </p:cNvSpPr>
          <p:nvPr/>
        </p:nvSpPr>
        <p:spPr bwMode="auto">
          <a:xfrm>
            <a:off x="5194662" y="4643422"/>
            <a:ext cx="1358861" cy="13588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7" name="テキスト ボックス 6">
            <a:extLst>
              <a:ext uri="{FF2B5EF4-FFF2-40B4-BE49-F238E27FC236}">
                <a16:creationId xmlns:a16="http://schemas.microsoft.com/office/drawing/2014/main" id="{C6AC07B7-349C-3854-C197-6419C75185A9}"/>
              </a:ext>
            </a:extLst>
          </p:cNvPr>
          <p:cNvSpPr txBox="1"/>
          <p:nvPr/>
        </p:nvSpPr>
        <p:spPr>
          <a:xfrm>
            <a:off x="1561699" y="2919866"/>
            <a:ext cx="9782705" cy="461665"/>
          </a:xfrm>
          <a:prstGeom prst="rect">
            <a:avLst/>
          </a:prstGeom>
          <a:noFill/>
        </p:spPr>
        <p:txBody>
          <a:bodyPr wrap="square" rtlCol="0">
            <a:spAutoFit/>
          </a:bodyPr>
          <a:lstStyle/>
          <a:p>
            <a:r>
              <a:rPr kumimoji="1" lang="ja-JP" altLang="en-US" sz="2400" dirty="0"/>
              <a:t>立ち入り禁止エリアかどうかの判断は</a:t>
            </a:r>
            <a:r>
              <a:rPr kumimoji="1" lang="en-US" altLang="ja-JP" sz="2400" b="1" dirty="0">
                <a:solidFill>
                  <a:srgbClr val="FF0000"/>
                </a:solidFill>
              </a:rPr>
              <a:t>YOLO</a:t>
            </a:r>
            <a:r>
              <a:rPr kumimoji="1" lang="ja-JP" altLang="en-US" sz="2400" b="1" dirty="0">
                <a:solidFill>
                  <a:srgbClr val="FF0000"/>
                </a:solidFill>
              </a:rPr>
              <a:t>だけでは難しい</a:t>
            </a:r>
          </a:p>
        </p:txBody>
      </p:sp>
      <p:sp>
        <p:nvSpPr>
          <p:cNvPr id="8" name="矢印: 下 7">
            <a:extLst>
              <a:ext uri="{FF2B5EF4-FFF2-40B4-BE49-F238E27FC236}">
                <a16:creationId xmlns:a16="http://schemas.microsoft.com/office/drawing/2014/main" id="{3A6D9733-8F63-6736-00D4-A4F745273FFB}"/>
              </a:ext>
            </a:extLst>
          </p:cNvPr>
          <p:cNvSpPr/>
          <p:nvPr/>
        </p:nvSpPr>
        <p:spPr>
          <a:xfrm>
            <a:off x="5270993" y="3543295"/>
            <a:ext cx="416176" cy="328871"/>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1DDE10DE-06E0-7AA5-9AD9-FEEF3198E75E}"/>
              </a:ext>
            </a:extLst>
          </p:cNvPr>
          <p:cNvSpPr txBox="1"/>
          <p:nvPr/>
        </p:nvSpPr>
        <p:spPr>
          <a:xfrm>
            <a:off x="1052246" y="4198644"/>
            <a:ext cx="9782705" cy="461665"/>
          </a:xfrm>
          <a:prstGeom prst="rect">
            <a:avLst/>
          </a:prstGeom>
          <a:noFill/>
        </p:spPr>
        <p:txBody>
          <a:bodyPr wrap="square" rtlCol="0">
            <a:spAutoFit/>
          </a:bodyPr>
          <a:lstStyle/>
          <a:p>
            <a:r>
              <a:rPr kumimoji="1" lang="ja-JP" altLang="en-US" sz="2400" dirty="0"/>
              <a:t>自分でモデルを作って学習させて立ち入り禁止エリアかどうかの判断</a:t>
            </a:r>
            <a:endParaRPr kumimoji="1" lang="en-US" altLang="ja-JP" sz="2400" dirty="0"/>
          </a:p>
        </p:txBody>
      </p:sp>
      <p:sp>
        <p:nvSpPr>
          <p:cNvPr id="10" name="矢印: 下 9">
            <a:extLst>
              <a:ext uri="{FF2B5EF4-FFF2-40B4-BE49-F238E27FC236}">
                <a16:creationId xmlns:a16="http://schemas.microsoft.com/office/drawing/2014/main" id="{904D74E8-B8BD-3EDE-AFA0-6BB8078C7FBA}"/>
              </a:ext>
            </a:extLst>
          </p:cNvPr>
          <p:cNvSpPr/>
          <p:nvPr/>
        </p:nvSpPr>
        <p:spPr>
          <a:xfrm>
            <a:off x="5270993" y="5051681"/>
            <a:ext cx="416176" cy="328871"/>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DA5CD011-250E-241D-7CAF-6E010E270829}"/>
              </a:ext>
            </a:extLst>
          </p:cNvPr>
          <p:cNvSpPr txBox="1"/>
          <p:nvPr/>
        </p:nvSpPr>
        <p:spPr>
          <a:xfrm>
            <a:off x="1889644" y="5620173"/>
            <a:ext cx="9782705" cy="461665"/>
          </a:xfrm>
          <a:prstGeom prst="rect">
            <a:avLst/>
          </a:prstGeom>
          <a:noFill/>
        </p:spPr>
        <p:txBody>
          <a:bodyPr wrap="square" rtlCol="0">
            <a:spAutoFit/>
          </a:bodyPr>
          <a:lstStyle/>
          <a:p>
            <a:r>
              <a:rPr kumimoji="1" lang="ja-JP" altLang="en-US" sz="2400" dirty="0"/>
              <a:t>物体検知と組み合わせて異常であると判定する</a:t>
            </a:r>
            <a:endParaRPr kumimoji="1" lang="ja-JP" altLang="en-US" sz="2400" b="1" dirty="0">
              <a:solidFill>
                <a:srgbClr val="FF0000"/>
              </a:solidFill>
            </a:endParaRPr>
          </a:p>
        </p:txBody>
      </p:sp>
    </p:spTree>
    <p:extLst>
      <p:ext uri="{BB962C8B-B14F-4D97-AF65-F5344CB8AC3E}">
        <p14:creationId xmlns:p14="http://schemas.microsoft.com/office/powerpoint/2010/main" val="645501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Arial"/>
                <a:ea typeface="Arial"/>
                <a:cs typeface="Arial"/>
                <a:sym typeface="Arial"/>
              </a:rPr>
              <a:t>参考文献</a:t>
            </a:r>
            <a:endParaRPr sz="2800" dirty="0">
              <a:solidFill>
                <a:schemeClr val="dk1"/>
              </a:solidFill>
              <a:latin typeface="Arial"/>
              <a:ea typeface="Arial"/>
              <a:cs typeface="Arial"/>
              <a:sym typeface="Arial"/>
            </a:endParaRPr>
          </a:p>
        </p:txBody>
      </p:sp>
      <p:sp>
        <p:nvSpPr>
          <p:cNvPr id="39" name="AutoShape 2" descr="イラストや pc に対する画像結果">
            <a:extLst>
              <a:ext uri="{FF2B5EF4-FFF2-40B4-BE49-F238E27FC236}">
                <a16:creationId xmlns:a16="http://schemas.microsoft.com/office/drawing/2014/main" id="{9AEBC004-CF67-762D-0C4E-2C8B9F84A252}"/>
              </a:ext>
            </a:extLst>
          </p:cNvPr>
          <p:cNvSpPr>
            <a:spLocks noChangeAspect="1" noChangeArrowheads="1"/>
          </p:cNvSpPr>
          <p:nvPr/>
        </p:nvSpPr>
        <p:spPr bwMode="auto">
          <a:xfrm>
            <a:off x="5943599" y="3276599"/>
            <a:ext cx="1535461" cy="15354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2" name="Google Shape;108;p2">
            <a:extLst>
              <a:ext uri="{FF2B5EF4-FFF2-40B4-BE49-F238E27FC236}">
                <a16:creationId xmlns:a16="http://schemas.microsoft.com/office/drawing/2014/main" id="{0FABE892-5EEA-93DC-A402-C0F799818639}"/>
              </a:ext>
            </a:extLst>
          </p:cNvPr>
          <p:cNvSpPr txBox="1"/>
          <p:nvPr/>
        </p:nvSpPr>
        <p:spPr>
          <a:xfrm>
            <a:off x="651207" y="1220912"/>
            <a:ext cx="9929707"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ltLang="ja-JP" sz="2800" dirty="0">
                <a:solidFill>
                  <a:schemeClr val="dk1"/>
                </a:solidFill>
                <a:latin typeface="Arial"/>
                <a:ea typeface="Arial"/>
                <a:cs typeface="Arial"/>
                <a:sym typeface="Arial"/>
              </a:rPr>
              <a:t>GPU</a:t>
            </a:r>
            <a:r>
              <a:rPr lang="ja-JP" altLang="en-US" sz="2800" dirty="0">
                <a:solidFill>
                  <a:schemeClr val="dk1"/>
                </a:solidFill>
                <a:latin typeface="Arial"/>
                <a:ea typeface="Arial"/>
                <a:cs typeface="Arial"/>
                <a:sym typeface="Arial"/>
              </a:rPr>
              <a:t>を使用しなかった場合</a:t>
            </a:r>
            <a:endParaRPr lang="en-US" altLang="ja-JP" sz="2800" dirty="0">
              <a:solidFill>
                <a:schemeClr val="dk1"/>
              </a:solidFill>
              <a:latin typeface="Arial"/>
              <a:ea typeface="Arial"/>
              <a:cs typeface="Arial"/>
              <a:sym typeface="Arial"/>
            </a:endParaRPr>
          </a:p>
          <a:p>
            <a:pPr marL="0" marR="0" lvl="0" indent="0" algn="l" rtl="0">
              <a:spcBef>
                <a:spcPts val="0"/>
              </a:spcBef>
              <a:spcAft>
                <a:spcPts val="0"/>
              </a:spcAft>
              <a:buNone/>
            </a:pPr>
            <a:r>
              <a:rPr lang="en-US" altLang="ja-JP" sz="2800" dirty="0">
                <a:hlinkClick r:id="rId3"/>
              </a:rPr>
              <a:t>【YOLO】GPU</a:t>
            </a:r>
            <a:r>
              <a:rPr lang="ja-JP" altLang="en-US" sz="2800" dirty="0">
                <a:hlinkClick r:id="rId3"/>
              </a:rPr>
              <a:t>使用と非使用での</a:t>
            </a:r>
            <a:r>
              <a:rPr lang="en-US" altLang="ja-JP" sz="2800" dirty="0">
                <a:hlinkClick r:id="rId3"/>
              </a:rPr>
              <a:t>YOLO</a:t>
            </a:r>
            <a:r>
              <a:rPr lang="ja-JP" altLang="en-US" sz="2800" dirty="0">
                <a:hlinkClick r:id="rId3"/>
              </a:rPr>
              <a:t>の処理速度の違い。</a:t>
            </a:r>
            <a:endParaRPr sz="2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84965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Arial"/>
                <a:ea typeface="Arial"/>
                <a:cs typeface="Arial"/>
                <a:sym typeface="Arial"/>
              </a:rPr>
              <a:t>参考文献</a:t>
            </a:r>
            <a:endParaRPr sz="2800" dirty="0">
              <a:solidFill>
                <a:schemeClr val="dk1"/>
              </a:solidFill>
              <a:latin typeface="Arial"/>
              <a:ea typeface="Arial"/>
              <a:cs typeface="Arial"/>
              <a:sym typeface="Arial"/>
            </a:endParaRPr>
          </a:p>
        </p:txBody>
      </p:sp>
      <p:sp>
        <p:nvSpPr>
          <p:cNvPr id="39" name="AutoShape 2" descr="イラストや pc に対する画像結果">
            <a:extLst>
              <a:ext uri="{FF2B5EF4-FFF2-40B4-BE49-F238E27FC236}">
                <a16:creationId xmlns:a16="http://schemas.microsoft.com/office/drawing/2014/main" id="{9AEBC004-CF67-762D-0C4E-2C8B9F84A252}"/>
              </a:ext>
            </a:extLst>
          </p:cNvPr>
          <p:cNvSpPr>
            <a:spLocks noChangeAspect="1" noChangeArrowheads="1"/>
          </p:cNvSpPr>
          <p:nvPr/>
        </p:nvSpPr>
        <p:spPr bwMode="auto">
          <a:xfrm>
            <a:off x="5943599" y="3276599"/>
            <a:ext cx="1535461" cy="15354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3" name="Google Shape;108;p2">
            <a:extLst>
              <a:ext uri="{FF2B5EF4-FFF2-40B4-BE49-F238E27FC236}">
                <a16:creationId xmlns:a16="http://schemas.microsoft.com/office/drawing/2014/main" id="{6CF2F877-58FA-AB4F-4D85-D406863D49EE}"/>
              </a:ext>
            </a:extLst>
          </p:cNvPr>
          <p:cNvSpPr txBox="1"/>
          <p:nvPr/>
        </p:nvSpPr>
        <p:spPr>
          <a:xfrm>
            <a:off x="524932" y="1220912"/>
            <a:ext cx="11355068" cy="22467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Arial"/>
                <a:ea typeface="Arial"/>
                <a:cs typeface="Arial"/>
                <a:sym typeface="Arial"/>
              </a:rPr>
              <a:t>検知できる物体</a:t>
            </a:r>
            <a:endParaRPr lang="en-US" altLang="ja-JP" sz="2800" dirty="0">
              <a:solidFill>
                <a:schemeClr val="dk1"/>
              </a:solidFill>
              <a:latin typeface="Arial"/>
              <a:ea typeface="Arial"/>
              <a:cs typeface="Arial"/>
              <a:sym typeface="Arial"/>
            </a:endParaRPr>
          </a:p>
          <a:p>
            <a:pPr marL="0" marR="0" lvl="0" indent="0" algn="l" rtl="0">
              <a:spcBef>
                <a:spcPts val="0"/>
              </a:spcBef>
              <a:spcAft>
                <a:spcPts val="0"/>
              </a:spcAft>
              <a:buNone/>
            </a:pPr>
            <a:endParaRPr lang="en-US" altLang="ja-JP" sz="2800" dirty="0">
              <a:solidFill>
                <a:schemeClr val="dk1"/>
              </a:solidFill>
              <a:latin typeface="Arial"/>
              <a:ea typeface="Arial"/>
              <a:cs typeface="Arial"/>
              <a:sym typeface="Arial"/>
            </a:endParaRPr>
          </a:p>
          <a:p>
            <a:pPr marL="0" marR="0" lvl="0" indent="0" algn="l" rtl="0">
              <a:spcBef>
                <a:spcPts val="0"/>
              </a:spcBef>
              <a:spcAft>
                <a:spcPts val="0"/>
              </a:spcAft>
              <a:buNone/>
            </a:pPr>
            <a:r>
              <a:rPr lang="ja-JP" altLang="en-US" sz="2800" dirty="0">
                <a:solidFill>
                  <a:schemeClr val="dk1"/>
                </a:solidFill>
                <a:latin typeface="Arial"/>
                <a:ea typeface="Arial"/>
                <a:cs typeface="Arial"/>
                <a:sym typeface="Arial"/>
              </a:rPr>
              <a:t>　</a:t>
            </a:r>
            <a:r>
              <a:rPr lang="en-US" altLang="ja-JP" sz="2800" dirty="0">
                <a:solidFill>
                  <a:schemeClr val="dk1"/>
                </a:solidFill>
                <a:latin typeface="Arial"/>
                <a:ea typeface="Arial"/>
                <a:cs typeface="Arial"/>
                <a:sym typeface="Arial"/>
              </a:rPr>
              <a:t>80</a:t>
            </a:r>
            <a:r>
              <a:rPr lang="ja-JP" altLang="en-US" sz="2800" dirty="0">
                <a:solidFill>
                  <a:schemeClr val="dk1"/>
                </a:solidFill>
                <a:latin typeface="Arial"/>
                <a:ea typeface="Arial"/>
                <a:cs typeface="Arial"/>
                <a:sym typeface="Arial"/>
              </a:rPr>
              <a:t>種類の物体を検知できる</a:t>
            </a:r>
            <a:endParaRPr lang="en-US" altLang="ja-JP" sz="2800" dirty="0">
              <a:solidFill>
                <a:schemeClr val="dk1"/>
              </a:solidFill>
              <a:latin typeface="Arial"/>
              <a:ea typeface="Arial"/>
              <a:cs typeface="Arial"/>
              <a:sym typeface="Arial"/>
            </a:endParaRPr>
          </a:p>
          <a:p>
            <a:pPr marL="0" marR="0" lvl="0" indent="0" algn="l" rtl="0">
              <a:spcBef>
                <a:spcPts val="0"/>
              </a:spcBef>
              <a:spcAft>
                <a:spcPts val="0"/>
              </a:spcAft>
              <a:buNone/>
            </a:pPr>
            <a:endParaRPr lang="en-US" altLang="ja-JP" sz="2800" dirty="0">
              <a:solidFill>
                <a:schemeClr val="dk1"/>
              </a:solidFill>
              <a:latin typeface="Arial"/>
              <a:ea typeface="Arial"/>
              <a:cs typeface="Arial"/>
              <a:sym typeface="Arial"/>
            </a:endParaRPr>
          </a:p>
          <a:p>
            <a:pPr marL="0" marR="0" lvl="0" indent="0" algn="l" rtl="0">
              <a:spcBef>
                <a:spcPts val="0"/>
              </a:spcBef>
              <a:spcAft>
                <a:spcPts val="0"/>
              </a:spcAft>
              <a:buNone/>
            </a:pPr>
            <a:r>
              <a:rPr lang="en-US" altLang="ja-JP" sz="2800" dirty="0">
                <a:hlinkClick r:id="rId3"/>
              </a:rPr>
              <a:t>A list of all 80 YOLO classes and its index in JSON format. · GitHub</a:t>
            </a:r>
            <a:endParaRPr lang="en-US" altLang="ja-JP" sz="2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01843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Arial"/>
                <a:ea typeface="Arial"/>
                <a:cs typeface="Arial"/>
                <a:sym typeface="Arial"/>
              </a:rPr>
              <a:t>参考</a:t>
            </a:r>
            <a:endParaRPr sz="2800" dirty="0">
              <a:solidFill>
                <a:schemeClr val="dk1"/>
              </a:solidFill>
              <a:latin typeface="Arial"/>
              <a:ea typeface="Arial"/>
              <a:cs typeface="Arial"/>
              <a:sym typeface="Arial"/>
            </a:endParaRPr>
          </a:p>
        </p:txBody>
      </p:sp>
      <p:sp>
        <p:nvSpPr>
          <p:cNvPr id="39" name="AutoShape 2" descr="イラストや pc に対する画像結果">
            <a:extLst>
              <a:ext uri="{FF2B5EF4-FFF2-40B4-BE49-F238E27FC236}">
                <a16:creationId xmlns:a16="http://schemas.microsoft.com/office/drawing/2014/main" id="{9AEBC004-CF67-762D-0C4E-2C8B9F84A252}"/>
              </a:ext>
            </a:extLst>
          </p:cNvPr>
          <p:cNvSpPr>
            <a:spLocks noChangeAspect="1" noChangeArrowheads="1"/>
          </p:cNvSpPr>
          <p:nvPr/>
        </p:nvSpPr>
        <p:spPr bwMode="auto">
          <a:xfrm>
            <a:off x="5943599" y="3276599"/>
            <a:ext cx="1535461" cy="15354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 name="図 4">
            <a:extLst>
              <a:ext uri="{FF2B5EF4-FFF2-40B4-BE49-F238E27FC236}">
                <a16:creationId xmlns:a16="http://schemas.microsoft.com/office/drawing/2014/main" id="{CA2D2C5B-09FE-5064-E170-040CF0CEDBE3}"/>
              </a:ext>
            </a:extLst>
          </p:cNvPr>
          <p:cNvPicPr>
            <a:picLocks noChangeAspect="1"/>
          </p:cNvPicPr>
          <p:nvPr/>
        </p:nvPicPr>
        <p:blipFill>
          <a:blip r:embed="rId3"/>
          <a:stretch>
            <a:fillRect/>
          </a:stretch>
        </p:blipFill>
        <p:spPr>
          <a:xfrm>
            <a:off x="2152825" y="1623761"/>
            <a:ext cx="7744110" cy="4841136"/>
          </a:xfrm>
          <a:prstGeom prst="rect">
            <a:avLst/>
          </a:prstGeom>
        </p:spPr>
      </p:pic>
      <p:sp>
        <p:nvSpPr>
          <p:cNvPr id="6" name="テキスト ボックス 5">
            <a:extLst>
              <a:ext uri="{FF2B5EF4-FFF2-40B4-BE49-F238E27FC236}">
                <a16:creationId xmlns:a16="http://schemas.microsoft.com/office/drawing/2014/main" id="{B5627D6D-1670-AF9D-4251-6CC1D7B62755}"/>
              </a:ext>
            </a:extLst>
          </p:cNvPr>
          <p:cNvSpPr txBox="1"/>
          <p:nvPr/>
        </p:nvSpPr>
        <p:spPr>
          <a:xfrm>
            <a:off x="685074" y="1039261"/>
            <a:ext cx="2596606" cy="830997"/>
          </a:xfrm>
          <a:prstGeom prst="rect">
            <a:avLst/>
          </a:prstGeom>
          <a:noFill/>
        </p:spPr>
        <p:txBody>
          <a:bodyPr wrap="square" rtlCol="0">
            <a:spAutoFit/>
          </a:bodyPr>
          <a:lstStyle/>
          <a:p>
            <a:r>
              <a:rPr lang="ja-JP" altLang="en-US" sz="2400" b="1"/>
              <a:t>判別方法</a:t>
            </a:r>
            <a:endParaRPr lang="en-US" altLang="ja-JP" sz="2400" b="1" dirty="0"/>
          </a:p>
          <a:p>
            <a:endParaRPr kumimoji="1" lang="ja-JP" altLang="en-US" sz="2400" b="1" dirty="0"/>
          </a:p>
        </p:txBody>
      </p:sp>
      <p:sp>
        <p:nvSpPr>
          <p:cNvPr id="9" name="吹き出し: 角を丸めた四角形 8">
            <a:extLst>
              <a:ext uri="{FF2B5EF4-FFF2-40B4-BE49-F238E27FC236}">
                <a16:creationId xmlns:a16="http://schemas.microsoft.com/office/drawing/2014/main" id="{D9EA16CE-A3AB-18D3-E13C-8D0C7C44B2E3}"/>
              </a:ext>
            </a:extLst>
          </p:cNvPr>
          <p:cNvSpPr/>
          <p:nvPr/>
        </p:nvSpPr>
        <p:spPr>
          <a:xfrm>
            <a:off x="7551605" y="847186"/>
            <a:ext cx="2596606" cy="1178560"/>
          </a:xfrm>
          <a:prstGeom prst="wedgeRoundRectCallout">
            <a:avLst>
              <a:gd name="adj1" fmla="val -70917"/>
              <a:gd name="adj2" fmla="val 6853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背景か物体かを判断</a:t>
            </a:r>
          </a:p>
        </p:txBody>
      </p:sp>
      <p:sp>
        <p:nvSpPr>
          <p:cNvPr id="10" name="吹き出し: 角を丸めた四角形 9">
            <a:extLst>
              <a:ext uri="{FF2B5EF4-FFF2-40B4-BE49-F238E27FC236}">
                <a16:creationId xmlns:a16="http://schemas.microsoft.com/office/drawing/2014/main" id="{3EE5DA28-E61A-0EC0-A382-1BAFEE57B463}"/>
              </a:ext>
            </a:extLst>
          </p:cNvPr>
          <p:cNvSpPr/>
          <p:nvPr/>
        </p:nvSpPr>
        <p:spPr>
          <a:xfrm>
            <a:off x="7479060" y="5234239"/>
            <a:ext cx="2596606" cy="1178560"/>
          </a:xfrm>
          <a:prstGeom prst="wedgeRoundRectCallout">
            <a:avLst>
              <a:gd name="adj1" fmla="val -71700"/>
              <a:gd name="adj2" fmla="val -33190"/>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何の物体かを判断する</a:t>
            </a:r>
          </a:p>
        </p:txBody>
      </p:sp>
    </p:spTree>
    <p:extLst>
      <p:ext uri="{BB962C8B-B14F-4D97-AF65-F5344CB8AC3E}">
        <p14:creationId xmlns:p14="http://schemas.microsoft.com/office/powerpoint/2010/main" val="687009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a:spLocks noGrp="1"/>
          </p:cNvSpPr>
          <p:nvPr>
            <p:ph type="ftr" idx="11"/>
          </p:nvPr>
        </p:nvSpPr>
        <p:spPr>
          <a:xfrm>
            <a:off x="8153018" y="6572751"/>
            <a:ext cx="3726982" cy="13849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ja-JP"/>
              <a:t>Copyright Ⓒ TOYOTA INDUSTRIES IT SOLUTIONS Inc. All Rights Reserved.</a:t>
            </a:r>
            <a:endParaRPr/>
          </a:p>
        </p:txBody>
      </p:sp>
      <p:sp>
        <p:nvSpPr>
          <p:cNvPr id="108" name="Google Shape;108;p2"/>
          <p:cNvSpPr txBox="1"/>
          <p:nvPr/>
        </p:nvSpPr>
        <p:spPr>
          <a:xfrm>
            <a:off x="524933" y="211666"/>
            <a:ext cx="557106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Arial"/>
                <a:ea typeface="Arial"/>
                <a:cs typeface="Arial"/>
                <a:sym typeface="Arial"/>
              </a:rPr>
              <a:t>今後</a:t>
            </a:r>
            <a:endParaRPr sz="2800" dirty="0">
              <a:solidFill>
                <a:schemeClr val="dk1"/>
              </a:solidFill>
              <a:latin typeface="Arial"/>
              <a:ea typeface="Arial"/>
              <a:cs typeface="Arial"/>
              <a:sym typeface="Arial"/>
            </a:endParaRPr>
          </a:p>
        </p:txBody>
      </p:sp>
      <p:sp>
        <p:nvSpPr>
          <p:cNvPr id="39" name="AutoShape 2" descr="イラストや pc に対する画像結果">
            <a:extLst>
              <a:ext uri="{FF2B5EF4-FFF2-40B4-BE49-F238E27FC236}">
                <a16:creationId xmlns:a16="http://schemas.microsoft.com/office/drawing/2014/main" id="{9AEBC004-CF67-762D-0C4E-2C8B9F84A252}"/>
              </a:ext>
            </a:extLst>
          </p:cNvPr>
          <p:cNvSpPr>
            <a:spLocks noChangeAspect="1" noChangeArrowheads="1"/>
          </p:cNvSpPr>
          <p:nvPr/>
        </p:nvSpPr>
        <p:spPr bwMode="auto">
          <a:xfrm>
            <a:off x="5943599" y="3276599"/>
            <a:ext cx="1535461" cy="15354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3" name="テキスト ボックス 2">
            <a:extLst>
              <a:ext uri="{FF2B5EF4-FFF2-40B4-BE49-F238E27FC236}">
                <a16:creationId xmlns:a16="http://schemas.microsoft.com/office/drawing/2014/main" id="{F5E84A6E-F7D3-24B4-68A8-2E9E135DB871}"/>
              </a:ext>
            </a:extLst>
          </p:cNvPr>
          <p:cNvSpPr txBox="1"/>
          <p:nvPr/>
        </p:nvSpPr>
        <p:spPr>
          <a:xfrm>
            <a:off x="1438289" y="1201485"/>
            <a:ext cx="11054080" cy="461665"/>
          </a:xfrm>
          <a:prstGeom prst="rect">
            <a:avLst/>
          </a:prstGeom>
          <a:noFill/>
        </p:spPr>
        <p:txBody>
          <a:bodyPr wrap="square" rtlCol="0">
            <a:spAutoFit/>
          </a:bodyPr>
          <a:lstStyle/>
          <a:p>
            <a:r>
              <a:rPr kumimoji="1" lang="ja-JP" altLang="en-US" sz="2400" dirty="0"/>
              <a:t>立ち入り禁止エリアかどうかの判断は</a:t>
            </a:r>
            <a:r>
              <a:rPr kumimoji="1" lang="en-US" altLang="ja-JP" sz="2400" b="1" dirty="0">
                <a:solidFill>
                  <a:srgbClr val="FF0000"/>
                </a:solidFill>
              </a:rPr>
              <a:t>YOLO</a:t>
            </a:r>
            <a:r>
              <a:rPr kumimoji="1" lang="ja-JP" altLang="en-US" sz="2400" b="1" dirty="0">
                <a:solidFill>
                  <a:srgbClr val="FF0000"/>
                </a:solidFill>
              </a:rPr>
              <a:t>だけでは難しい</a:t>
            </a:r>
          </a:p>
        </p:txBody>
      </p:sp>
      <p:sp>
        <p:nvSpPr>
          <p:cNvPr id="7" name="矢印: 下 6">
            <a:extLst>
              <a:ext uri="{FF2B5EF4-FFF2-40B4-BE49-F238E27FC236}">
                <a16:creationId xmlns:a16="http://schemas.microsoft.com/office/drawing/2014/main" id="{64D2FA44-C68D-0075-DF03-9795CECB5645}"/>
              </a:ext>
            </a:extLst>
          </p:cNvPr>
          <p:cNvSpPr/>
          <p:nvPr/>
        </p:nvSpPr>
        <p:spPr>
          <a:xfrm>
            <a:off x="5099028" y="1962996"/>
            <a:ext cx="470263" cy="581359"/>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2E8064F-F206-72D6-B025-F57972E99148}"/>
              </a:ext>
            </a:extLst>
          </p:cNvPr>
          <p:cNvSpPr txBox="1"/>
          <p:nvPr/>
        </p:nvSpPr>
        <p:spPr>
          <a:xfrm>
            <a:off x="1184289" y="2728021"/>
            <a:ext cx="11054080" cy="830997"/>
          </a:xfrm>
          <a:prstGeom prst="rect">
            <a:avLst/>
          </a:prstGeom>
          <a:noFill/>
        </p:spPr>
        <p:txBody>
          <a:bodyPr wrap="square" rtlCol="0">
            <a:spAutoFit/>
          </a:bodyPr>
          <a:lstStyle/>
          <a:p>
            <a:r>
              <a:rPr kumimoji="1" lang="ja-JP" altLang="en-US" sz="2400" dirty="0"/>
              <a:t>自分でモデルを作って学習させて立ち入り禁止エリアかどうかの判断</a:t>
            </a:r>
            <a:endParaRPr kumimoji="1" lang="en-US" altLang="ja-JP" sz="2400" dirty="0"/>
          </a:p>
          <a:p>
            <a:r>
              <a:rPr lang="ja-JP" altLang="en-US" sz="2400" b="1" dirty="0">
                <a:solidFill>
                  <a:srgbClr val="FF0000"/>
                </a:solidFill>
              </a:rPr>
              <a:t>　　　　　　　　　　（画像識別）</a:t>
            </a:r>
            <a:endParaRPr kumimoji="1" lang="ja-JP" altLang="en-US" sz="2400" b="1" dirty="0">
              <a:solidFill>
                <a:srgbClr val="FF0000"/>
              </a:solidFill>
            </a:endParaRPr>
          </a:p>
        </p:txBody>
      </p:sp>
      <p:sp>
        <p:nvSpPr>
          <p:cNvPr id="9" name="矢印: 下 8">
            <a:extLst>
              <a:ext uri="{FF2B5EF4-FFF2-40B4-BE49-F238E27FC236}">
                <a16:creationId xmlns:a16="http://schemas.microsoft.com/office/drawing/2014/main" id="{BDE1B1A2-0332-6046-E466-AF3C8E7AEF9D}"/>
              </a:ext>
            </a:extLst>
          </p:cNvPr>
          <p:cNvSpPr/>
          <p:nvPr/>
        </p:nvSpPr>
        <p:spPr>
          <a:xfrm>
            <a:off x="5099028" y="3717894"/>
            <a:ext cx="470263" cy="581359"/>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102934F-7A2D-7ACC-9035-5541EA335217}"/>
              </a:ext>
            </a:extLst>
          </p:cNvPr>
          <p:cNvSpPr txBox="1"/>
          <p:nvPr/>
        </p:nvSpPr>
        <p:spPr>
          <a:xfrm>
            <a:off x="2383169" y="4581227"/>
            <a:ext cx="11054080" cy="461665"/>
          </a:xfrm>
          <a:prstGeom prst="rect">
            <a:avLst/>
          </a:prstGeom>
          <a:noFill/>
        </p:spPr>
        <p:txBody>
          <a:bodyPr wrap="square" rtlCol="0">
            <a:spAutoFit/>
          </a:bodyPr>
          <a:lstStyle/>
          <a:p>
            <a:r>
              <a:rPr kumimoji="1" lang="ja-JP" altLang="en-US" sz="2400" dirty="0"/>
              <a:t>物体検知と組み合わせて異常であると判定する</a:t>
            </a:r>
            <a:endParaRPr kumimoji="1" lang="ja-JP" altLang="en-US" sz="2400" b="1" dirty="0">
              <a:solidFill>
                <a:srgbClr val="FF0000"/>
              </a:solidFill>
            </a:endParaRPr>
          </a:p>
        </p:txBody>
      </p:sp>
    </p:spTree>
    <p:extLst>
      <p:ext uri="{BB962C8B-B14F-4D97-AF65-F5344CB8AC3E}">
        <p14:creationId xmlns:p14="http://schemas.microsoft.com/office/powerpoint/2010/main" val="16038329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3592</TotalTime>
  <Words>688</Words>
  <Application>Microsoft Office PowerPoint</Application>
  <PresentationFormat>ワイド画面</PresentationFormat>
  <Paragraphs>101</Paragraphs>
  <Slides>16</Slides>
  <Notes>14</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16</vt:i4>
      </vt:variant>
    </vt:vector>
  </HeadingPairs>
  <TitlesOfParts>
    <vt:vector size="21" baseType="lpstr">
      <vt:lpstr>MS PGothic</vt:lpstr>
      <vt:lpstr>游ゴシック</vt:lpstr>
      <vt:lpstr>游ゴシック Light</vt:lpstr>
      <vt:lpstr>Arial</vt:lpstr>
      <vt:lpstr>Office テーマ</vt:lpstr>
      <vt:lpstr>YOLOを使って物体検知してみたい</vt:lpstr>
      <vt:lpstr>PowerPoint プレゼンテーション</vt:lpstr>
      <vt:lpstr>PowerPoint プレゼンテーション</vt:lpstr>
      <vt:lpstr>PowerPoint プレゼンテーション</vt:lpstr>
      <vt:lpstr>PowerPoint プレゼンテーション</vt:lpstr>
      <vt:lpstr>動機</vt:lpstr>
      <vt:lpstr>PowerPoint プレゼンテーション</vt:lpstr>
      <vt:lpstr>動機</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TOYOTA Industries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福尾 遼太</dc:creator>
  <cp:lastModifiedBy>FUKUO RYOTA / 福尾 遼太</cp:lastModifiedBy>
  <cp:revision>33</cp:revision>
  <dcterms:created xsi:type="dcterms:W3CDTF">2025-09-10T02:00:06Z</dcterms:created>
  <dcterms:modified xsi:type="dcterms:W3CDTF">2026-01-23T01:10:22Z</dcterms:modified>
</cp:coreProperties>
</file>